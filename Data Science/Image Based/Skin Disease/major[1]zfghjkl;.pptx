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6" r:id="rId10"/>
    <p:sldId id="268" r:id="rId11"/>
    <p:sldId id="273" r:id="rId12"/>
    <p:sldId id="271" r:id="rId13"/>
    <p:sldId id="272" r:id="rId14"/>
    <p:sldId id="270" r:id="rId15"/>
    <p:sldId id="265" r:id="rId16"/>
    <p:sldId id="269" r:id="rId17"/>
  </p:sldIdLst>
  <p:sldSz cx="11430000" cy="6438900"/>
  <p:notesSz cx="6858000" cy="9144000"/>
  <p:embeddedFontLst>
    <p:embeddedFont>
      <p:font typeface="Abadi Extra Light" panose="020F0302020204030204" pitchFamily="34" charset="0"/>
      <p:regular r:id="rId19"/>
    </p:embeddedFont>
    <p:embeddedFont>
      <p:font typeface="Canva Sans" panose="020B0503030501040103" pitchFamily="34" charset="0"/>
      <p:regular r:id="rId20"/>
    </p:embeddedFont>
    <p:embeddedFont>
      <p:font typeface="Canva Sans Bold" panose="020B0803030501040103" pitchFamily="34" charset="0"/>
      <p:regular r:id="rId21"/>
      <p:bold r:id="rId22"/>
    </p:embeddedFont>
    <p:embeddedFont>
      <p:font typeface="IBM Plex Sans" panose="020B0503050203000203"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autoAdjust="0"/>
    <p:restoredTop sz="94626" autoAdjust="0"/>
  </p:normalViewPr>
  <p:slideViewPr>
    <p:cSldViewPr>
      <p:cViewPr varScale="1">
        <p:scale>
          <a:sx n="128" d="100"/>
          <a:sy n="128" d="100"/>
        </p:scale>
        <p:origin x="16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19.09.2025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Presented by </a:t>
            </a:r>
          </a:p>
          <a:p>
            <a:r>
              <a:rPr lang="en-US"/>
              <a:t>Vaiga D. S</a:t>
            </a:r>
          </a:p>
          <a:p>
            <a:r>
              <a:rPr lang="en-US"/>
              <a:t>Abhirami C. S</a:t>
            </a:r>
          </a:p>
          <a:p>
            <a:r>
              <a:rPr lang="en-US"/>
              <a:t>Vismaya V. M</a:t>
            </a:r>
          </a:p>
          <a:p>
            <a:r>
              <a:rPr lang="en-US"/>
              <a:t>Abhijith A. C</a:t>
            </a:r>
          </a:p>
          <a:p>
            <a:r>
              <a:rPr lang="en-US"/>
              <a:t>Muhammed Arfan. 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sp>
        <p:nvSpPr>
          <p:cNvPr id="2" name="TextBox 2"/>
          <p:cNvSpPr txBox="1"/>
          <p:nvPr/>
        </p:nvSpPr>
        <p:spPr>
          <a:xfrm>
            <a:off x="402167" y="643920"/>
            <a:ext cx="5840339" cy="923239"/>
          </a:xfrm>
          <a:prstGeom prst="rect">
            <a:avLst/>
          </a:prstGeom>
        </p:spPr>
        <p:txBody>
          <a:bodyPr lIns="0" tIns="0" rIns="0" bIns="0" rtlCol="0" anchor="t">
            <a:spAutoFit/>
          </a:bodyPr>
          <a:lstStyle/>
          <a:p>
            <a:pPr algn="l">
              <a:lnSpc>
                <a:spcPts val="3676"/>
              </a:lnSpc>
            </a:pPr>
            <a:r>
              <a:rPr lang="en-US" sz="2952" spc="-29">
                <a:solidFill>
                  <a:srgbClr val="D8B6A4"/>
                </a:solidFill>
                <a:latin typeface="IBM Plex Sans"/>
                <a:ea typeface="IBM Plex Sans"/>
                <a:cs typeface="IBM Plex Sans"/>
                <a:sym typeface="IBM Plex Sans"/>
              </a:rPr>
              <a:t>Automatic Skin Disease Diagnosis Website</a:t>
            </a:r>
          </a:p>
        </p:txBody>
      </p:sp>
      <p:sp>
        <p:nvSpPr>
          <p:cNvPr id="3" name="TextBox 3"/>
          <p:cNvSpPr txBox="1"/>
          <p:nvPr/>
        </p:nvSpPr>
        <p:spPr>
          <a:xfrm>
            <a:off x="1763316" y="320203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4" name="TextBox 4"/>
          <p:cNvSpPr txBox="1"/>
          <p:nvPr/>
        </p:nvSpPr>
        <p:spPr>
          <a:xfrm>
            <a:off x="643920" y="1840682"/>
            <a:ext cx="6044546" cy="894443"/>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This presentationoutlines aninnovative project focusedondevelopingan automatic skin </a:t>
            </a:r>
          </a:p>
          <a:p>
            <a:pPr algn="l">
              <a:lnSpc>
                <a:spcPts val="1874"/>
              </a:lnSpc>
            </a:pPr>
            <a:r>
              <a:rPr lang="en-US" sz="1181" spc="-11">
                <a:solidFill>
                  <a:srgbClr val="C9C2C0"/>
                </a:solidFill>
                <a:latin typeface="IBM Plex Sans"/>
                <a:ea typeface="IBM Plex Sans"/>
                <a:cs typeface="IBM Plex Sans"/>
                <a:sym typeface="IBM Plex Sans"/>
              </a:rPr>
              <a:t>disease diagnosis system utilizes deep learning, this tool aims to provide fast accurate</a:t>
            </a:r>
          </a:p>
          <a:p>
            <a:pPr algn="l">
              <a:lnSpc>
                <a:spcPts val="1874"/>
              </a:lnSpc>
            </a:pPr>
            <a:r>
              <a:rPr lang="en-US" sz="1181" spc="-11">
                <a:solidFill>
                  <a:srgbClr val="C9C2C0"/>
                </a:solidFill>
                <a:latin typeface="IBM Plex Sans"/>
                <a:ea typeface="IBM Plex Sans"/>
                <a:cs typeface="IBM Plex Sans"/>
                <a:sym typeface="IBM Plex Sans"/>
              </a:rPr>
              <a:t>and accessible diagnostic assistance for various skin conditions, ultimately improving</a:t>
            </a:r>
          </a:p>
          <a:p>
            <a:pPr algn="l">
              <a:lnSpc>
                <a:spcPts val="1874"/>
              </a:lnSpc>
            </a:pPr>
            <a:r>
              <a:rPr lang="en-US" sz="1181" spc="-11">
                <a:solidFill>
                  <a:srgbClr val="C9C2C0"/>
                </a:solidFill>
                <a:latin typeface="IBM Plex Sans"/>
                <a:ea typeface="IBM Plex Sans"/>
                <a:cs typeface="IBM Plex Sans"/>
                <a:sym typeface="IBM Plex Sans"/>
              </a:rPr>
              <a:t>patients out comes</a:t>
            </a:r>
          </a:p>
        </p:txBody>
      </p:sp>
      <p:sp>
        <p:nvSpPr>
          <p:cNvPr id="5" name="TextBox 5"/>
          <p:cNvSpPr txBox="1"/>
          <p:nvPr/>
        </p:nvSpPr>
        <p:spPr>
          <a:xfrm>
            <a:off x="643920" y="2563627"/>
            <a:ext cx="5840339" cy="1580243"/>
          </a:xfrm>
          <a:prstGeom prst="rect">
            <a:avLst/>
          </a:prstGeom>
        </p:spPr>
        <p:txBody>
          <a:bodyPr lIns="0" tIns="0" rIns="0" bIns="0" rtlCol="0" anchor="t">
            <a:spAutoFit/>
          </a:bodyPr>
          <a:lstStyle/>
          <a:p>
            <a:pPr algn="l">
              <a:lnSpc>
                <a:spcPts val="1874"/>
              </a:lnSpc>
            </a:pPr>
            <a:endParaRPr/>
          </a:p>
          <a:p>
            <a:pPr algn="l">
              <a:lnSpc>
                <a:spcPts val="1874"/>
              </a:lnSpc>
            </a:pPr>
            <a:endParaRPr/>
          </a:p>
          <a:p>
            <a:pPr algn="l">
              <a:lnSpc>
                <a:spcPts val="1874"/>
              </a:lnSpc>
            </a:pPr>
            <a:r>
              <a:rPr lang="en-US" sz="1181" spc="-11">
                <a:solidFill>
                  <a:srgbClr val="C9C2C0"/>
                </a:solidFill>
                <a:latin typeface="IBM Plex Sans"/>
                <a:ea typeface="IBM Plex Sans"/>
                <a:cs typeface="IBM Plex Sans"/>
                <a:sym typeface="IBM Plex Sans"/>
              </a:rPr>
              <a:t>This presentation introduces an innovative and intelligent web-based platform designed to assist in the early detection of skin diseases using image processing and machine learning. We will explore how the integration of multimedia elements and AI technologies enhances user interaction, improves diagnostic accuracy, and supports healthcare accessibility. </a:t>
            </a:r>
          </a:p>
        </p:txBody>
      </p:sp>
      <p:sp>
        <p:nvSpPr>
          <p:cNvPr id="6" name="TextBox 6"/>
          <p:cNvSpPr txBox="1"/>
          <p:nvPr/>
        </p:nvSpPr>
        <p:spPr>
          <a:xfrm>
            <a:off x="8817764" y="4817549"/>
            <a:ext cx="1386364" cy="1246346"/>
          </a:xfrm>
          <a:prstGeom prst="rect">
            <a:avLst/>
          </a:prstGeom>
        </p:spPr>
        <p:txBody>
          <a:bodyPr lIns="0" tIns="0" rIns="0" bIns="0" rtlCol="0" anchor="t">
            <a:spAutoFit/>
          </a:bodyPr>
          <a:lstStyle/>
          <a:p>
            <a:pPr algn="l">
              <a:lnSpc>
                <a:spcPts val="1653"/>
              </a:lnSpc>
            </a:pPr>
            <a:r>
              <a:rPr lang="en-US" sz="1181">
                <a:solidFill>
                  <a:srgbClr val="FFFFFF"/>
                </a:solidFill>
                <a:latin typeface="IBM Plex Sans"/>
                <a:ea typeface="IBM Plex Sans"/>
                <a:cs typeface="IBM Plex Sans"/>
                <a:sym typeface="IBM Plex Sans"/>
              </a:rPr>
              <a:t>Presented by </a:t>
            </a:r>
          </a:p>
          <a:p>
            <a:pPr algn="l">
              <a:lnSpc>
                <a:spcPts val="1653"/>
              </a:lnSpc>
            </a:pPr>
            <a:r>
              <a:rPr lang="en-US" sz="1181">
                <a:solidFill>
                  <a:srgbClr val="FFFFFF"/>
                </a:solidFill>
                <a:latin typeface="IBM Plex Sans"/>
                <a:ea typeface="IBM Plex Sans"/>
                <a:cs typeface="IBM Plex Sans"/>
                <a:sym typeface="IBM Plex Sans"/>
              </a:rPr>
              <a:t>Vaiga D. S</a:t>
            </a:r>
          </a:p>
          <a:p>
            <a:pPr algn="l">
              <a:lnSpc>
                <a:spcPts val="1653"/>
              </a:lnSpc>
            </a:pPr>
            <a:r>
              <a:rPr lang="en-US" sz="1181">
                <a:solidFill>
                  <a:srgbClr val="FFFFFF"/>
                </a:solidFill>
                <a:latin typeface="IBM Plex Sans"/>
                <a:ea typeface="IBM Plex Sans"/>
                <a:cs typeface="IBM Plex Sans"/>
                <a:sym typeface="IBM Plex Sans"/>
              </a:rPr>
              <a:t>Abhirami C. S</a:t>
            </a:r>
          </a:p>
          <a:p>
            <a:pPr algn="l">
              <a:lnSpc>
                <a:spcPts val="1653"/>
              </a:lnSpc>
            </a:pPr>
            <a:r>
              <a:rPr lang="en-US" sz="1181">
                <a:solidFill>
                  <a:srgbClr val="FFFFFF"/>
                </a:solidFill>
                <a:latin typeface="IBM Plex Sans"/>
                <a:ea typeface="IBM Plex Sans"/>
                <a:cs typeface="IBM Plex Sans"/>
                <a:sym typeface="IBM Plex Sans"/>
              </a:rPr>
              <a:t>Vismaya V. M</a:t>
            </a:r>
          </a:p>
          <a:p>
            <a:pPr algn="l">
              <a:lnSpc>
                <a:spcPts val="1653"/>
              </a:lnSpc>
            </a:pPr>
            <a:r>
              <a:rPr lang="en-US" sz="1181">
                <a:solidFill>
                  <a:srgbClr val="FFFFFF"/>
                </a:solidFill>
                <a:latin typeface="IBM Plex Sans"/>
                <a:ea typeface="IBM Plex Sans"/>
                <a:cs typeface="IBM Plex Sans"/>
                <a:sym typeface="IBM Plex Sans"/>
              </a:rPr>
              <a:t>Abhijith A. C</a:t>
            </a:r>
          </a:p>
          <a:p>
            <a:pPr algn="l">
              <a:lnSpc>
                <a:spcPts val="1653"/>
              </a:lnSpc>
            </a:pPr>
            <a:r>
              <a:rPr lang="en-US" sz="1181">
                <a:solidFill>
                  <a:srgbClr val="FFFFFF"/>
                </a:solidFill>
                <a:latin typeface="IBM Plex Sans"/>
                <a:ea typeface="IBM Plex Sans"/>
                <a:cs typeface="IBM Plex Sans"/>
                <a:sym typeface="IBM Plex Sans"/>
              </a:rPr>
              <a:t>Muhammed Arfan. 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sp>
        <p:nvSpPr>
          <p:cNvPr id="2" name="Freeform 2"/>
          <p:cNvSpPr/>
          <p:nvPr/>
        </p:nvSpPr>
        <p:spPr>
          <a:xfrm>
            <a:off x="7143750" y="257"/>
            <a:ext cx="4286250" cy="6438643"/>
          </a:xfrm>
          <a:custGeom>
            <a:avLst/>
            <a:gdLst/>
            <a:ahLst/>
            <a:cxnLst/>
            <a:rect l="l" t="t" r="r" b="b"/>
            <a:pathLst>
              <a:path w="4286250" h="6438643">
                <a:moveTo>
                  <a:pt x="0" y="0"/>
                </a:moveTo>
                <a:lnTo>
                  <a:pt x="4286250" y="0"/>
                </a:lnTo>
                <a:lnTo>
                  <a:pt x="4286250" y="6438643"/>
                </a:lnTo>
                <a:lnTo>
                  <a:pt x="0" y="6438643"/>
                </a:lnTo>
                <a:lnTo>
                  <a:pt x="0" y="0"/>
                </a:lnTo>
                <a:close/>
              </a:path>
            </a:pathLst>
          </a:custGeom>
          <a:blipFill>
            <a:blip r:embed="rId2"/>
            <a:stretch>
              <a:fillRect l="-73" t="-3" r="-73"/>
            </a:stretch>
          </a:blipFill>
        </p:spPr>
        <p:txBody>
          <a:bodyPr/>
          <a:lstStyle/>
          <a:p>
            <a:endParaRPr lang="en-US"/>
          </a:p>
        </p:txBody>
      </p:sp>
      <p:sp>
        <p:nvSpPr>
          <p:cNvPr id="3" name="TextBox 3"/>
          <p:cNvSpPr txBox="1"/>
          <p:nvPr/>
        </p:nvSpPr>
        <p:spPr>
          <a:xfrm>
            <a:off x="600075" y="2266331"/>
            <a:ext cx="5227310" cy="246964"/>
          </a:xfrm>
          <a:prstGeom prst="rect">
            <a:avLst/>
          </a:prstGeom>
        </p:spPr>
        <p:txBody>
          <a:bodyPr lIns="0" tIns="0" rIns="0" bIns="0" rtlCol="0" anchor="t">
            <a:spAutoFit/>
          </a:bodyPr>
          <a:lstStyle/>
          <a:p>
            <a:pPr algn="l">
              <a:lnSpc>
                <a:spcPts val="1476"/>
              </a:lnSpc>
            </a:pPr>
            <a:r>
              <a:rPr lang="en-US" sz="2952" spc="-29">
                <a:solidFill>
                  <a:srgbClr val="D8B6A4"/>
                </a:solidFill>
                <a:latin typeface="IBM Plex Sans"/>
                <a:ea typeface="IBM Plex Sans"/>
                <a:cs typeface="IBM Plex Sans"/>
                <a:sym typeface="IBM Plex Sans"/>
              </a:rPr>
              <a:t>The Challenge of Skin Diseases</a:t>
            </a:r>
          </a:p>
        </p:txBody>
      </p:sp>
      <p:sp>
        <p:nvSpPr>
          <p:cNvPr id="4" name="TextBox 4"/>
          <p:cNvSpPr txBox="1"/>
          <p:nvPr/>
        </p:nvSpPr>
        <p:spPr>
          <a:xfrm>
            <a:off x="2083613" y="2640063"/>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5" name="TextBox 5"/>
          <p:cNvSpPr txBox="1"/>
          <p:nvPr/>
        </p:nvSpPr>
        <p:spPr>
          <a:xfrm>
            <a:off x="600075" y="2744838"/>
            <a:ext cx="5933732" cy="220732"/>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Skin diseases impact asubstantialportionoftheglobalpopulation, rangingfromminor </a:t>
            </a:r>
          </a:p>
        </p:txBody>
      </p:sp>
      <p:sp>
        <p:nvSpPr>
          <p:cNvPr id="6" name="TextBox 6"/>
          <p:cNvSpPr txBox="1"/>
          <p:nvPr/>
        </p:nvSpPr>
        <p:spPr>
          <a:xfrm>
            <a:off x="599923" y="2982963"/>
            <a:ext cx="5933132" cy="1354207"/>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irritations to severe, life-threatening conditions.The effectiveness of treatmentheavily relies on early detectionand precise diagnosis.</a:t>
            </a:r>
          </a:p>
          <a:p>
            <a:pPr algn="l">
              <a:lnSpc>
                <a:spcPts val="2953"/>
              </a:lnSpc>
            </a:pPr>
            <a:r>
              <a:rPr lang="en-US" sz="1181" spc="-11">
                <a:solidFill>
                  <a:srgbClr val="C9C2C0"/>
                </a:solidFill>
                <a:latin typeface="IBM Plex Sans"/>
                <a:ea typeface="IBM Plex Sans"/>
                <a:cs typeface="IBM Plex Sans"/>
                <a:sym typeface="IBM Plex Sans"/>
              </a:rPr>
              <a:t>Current diagnostic methods can be time-consuming and may require specialized </a:t>
            </a:r>
          </a:p>
          <a:p>
            <a:pPr algn="l">
              <a:lnSpc>
                <a:spcPts val="797"/>
              </a:lnSpc>
            </a:pPr>
            <a:r>
              <a:rPr lang="en-US" sz="1181" spc="-11">
                <a:solidFill>
                  <a:srgbClr val="C9C2C0"/>
                </a:solidFill>
                <a:latin typeface="IBM Plex Sans"/>
                <a:ea typeface="IBM Plex Sans"/>
                <a:cs typeface="IBM Plex Sans"/>
                <a:sym typeface="IBM Plex Sans"/>
              </a:rPr>
              <a:t>expertise, limiting accessibility in some regions. This project addresses these challenges </a:t>
            </a:r>
          </a:p>
          <a:p>
            <a:pPr algn="l">
              <a:lnSpc>
                <a:spcPts val="2953"/>
              </a:lnSpc>
            </a:pPr>
            <a:r>
              <a:rPr lang="en-US" sz="1181" spc="-11">
                <a:solidFill>
                  <a:srgbClr val="C9C2C0"/>
                </a:solidFill>
                <a:latin typeface="IBM Plex Sans"/>
                <a:ea typeface="IBM Plex Sans"/>
                <a:cs typeface="IBM Plex Sans"/>
                <a:sym typeface="IBM Plex Sans"/>
              </a:rPr>
              <a:t>by offering a rapid and reliable diagnostic alternative.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600075" y="3581400"/>
            <a:ext cx="3314700" cy="1104900"/>
            <a:chOff x="0" y="0"/>
            <a:chExt cx="3314700" cy="1104900"/>
          </a:xfrm>
        </p:grpSpPr>
        <p:sp>
          <p:nvSpPr>
            <p:cNvPr id="3" name="Freeform 3"/>
            <p:cNvSpPr/>
            <p:nvPr/>
          </p:nvSpPr>
          <p:spPr>
            <a:xfrm>
              <a:off x="0" y="0"/>
              <a:ext cx="3314573" cy="1104773"/>
            </a:xfrm>
            <a:custGeom>
              <a:avLst/>
              <a:gdLst/>
              <a:ahLst/>
              <a:cxnLst/>
              <a:rect l="l" t="t" r="r" b="b"/>
              <a:pathLst>
                <a:path w="3314573" h="1104773">
                  <a:moveTo>
                    <a:pt x="0" y="1086104"/>
                  </a:moveTo>
                  <a:lnTo>
                    <a:pt x="0" y="18796"/>
                  </a:lnTo>
                  <a:cubicBezTo>
                    <a:pt x="0" y="16256"/>
                    <a:pt x="508" y="13843"/>
                    <a:pt x="1397" y="11557"/>
                  </a:cubicBezTo>
                  <a:cubicBezTo>
                    <a:pt x="2286" y="9271"/>
                    <a:pt x="3683" y="7239"/>
                    <a:pt x="5461" y="5461"/>
                  </a:cubicBezTo>
                  <a:cubicBezTo>
                    <a:pt x="7239" y="3683"/>
                    <a:pt x="9271" y="2413"/>
                    <a:pt x="11557" y="1397"/>
                  </a:cubicBezTo>
                  <a:cubicBezTo>
                    <a:pt x="13843" y="381"/>
                    <a:pt x="16256" y="0"/>
                    <a:pt x="18796" y="0"/>
                  </a:cubicBezTo>
                  <a:lnTo>
                    <a:pt x="3295904" y="0"/>
                  </a:lnTo>
                  <a:cubicBezTo>
                    <a:pt x="3298444" y="0"/>
                    <a:pt x="3300730" y="508"/>
                    <a:pt x="3303016" y="1397"/>
                  </a:cubicBezTo>
                  <a:cubicBezTo>
                    <a:pt x="3305302" y="2286"/>
                    <a:pt x="3307334" y="3683"/>
                    <a:pt x="3309112" y="5461"/>
                  </a:cubicBezTo>
                  <a:cubicBezTo>
                    <a:pt x="3310890" y="7239"/>
                    <a:pt x="3312160" y="9271"/>
                    <a:pt x="3313176" y="11557"/>
                  </a:cubicBezTo>
                  <a:cubicBezTo>
                    <a:pt x="3314192" y="13843"/>
                    <a:pt x="3314573" y="16256"/>
                    <a:pt x="3314573" y="18796"/>
                  </a:cubicBezTo>
                  <a:lnTo>
                    <a:pt x="3314573" y="1086104"/>
                  </a:lnTo>
                  <a:cubicBezTo>
                    <a:pt x="3314573" y="1088517"/>
                    <a:pt x="3314065" y="1090930"/>
                    <a:pt x="3313176" y="1093216"/>
                  </a:cubicBezTo>
                  <a:cubicBezTo>
                    <a:pt x="3312287" y="1095502"/>
                    <a:pt x="3310890" y="1097534"/>
                    <a:pt x="3309112" y="1099312"/>
                  </a:cubicBezTo>
                  <a:cubicBezTo>
                    <a:pt x="3307334" y="1101090"/>
                    <a:pt x="3305302" y="1102487"/>
                    <a:pt x="3303016" y="1103376"/>
                  </a:cubicBezTo>
                  <a:cubicBezTo>
                    <a:pt x="3300730" y="1104265"/>
                    <a:pt x="3298317" y="1104773"/>
                    <a:pt x="3295904" y="1104773"/>
                  </a:cubicBezTo>
                  <a:lnTo>
                    <a:pt x="18796" y="1104773"/>
                  </a:lnTo>
                  <a:cubicBezTo>
                    <a:pt x="16256" y="1104773"/>
                    <a:pt x="13970" y="1104265"/>
                    <a:pt x="11557" y="1103376"/>
                  </a:cubicBezTo>
                  <a:cubicBezTo>
                    <a:pt x="9144" y="1102487"/>
                    <a:pt x="7239" y="1101090"/>
                    <a:pt x="5461" y="1099312"/>
                  </a:cubicBezTo>
                  <a:cubicBezTo>
                    <a:pt x="3683" y="1097534"/>
                    <a:pt x="2413" y="1095502"/>
                    <a:pt x="1397" y="1093216"/>
                  </a:cubicBezTo>
                  <a:cubicBezTo>
                    <a:pt x="381" y="1090930"/>
                    <a:pt x="0" y="1088644"/>
                    <a:pt x="0" y="1086104"/>
                  </a:cubicBezTo>
                </a:path>
              </a:pathLst>
            </a:custGeom>
            <a:solidFill>
              <a:srgbClr val="373433"/>
            </a:solidFill>
          </p:spPr>
          <p:txBody>
            <a:bodyPr/>
            <a:lstStyle/>
            <a:p>
              <a:endParaRPr lang="en-US"/>
            </a:p>
          </p:txBody>
        </p:sp>
      </p:grpSp>
      <p:grpSp>
        <p:nvGrpSpPr>
          <p:cNvPr id="4" name="Group 4"/>
          <p:cNvGrpSpPr>
            <a:grpSpLocks noChangeAspect="1"/>
          </p:cNvGrpSpPr>
          <p:nvPr/>
        </p:nvGrpSpPr>
        <p:grpSpPr>
          <a:xfrm>
            <a:off x="4057650" y="3581400"/>
            <a:ext cx="3314700" cy="1104900"/>
            <a:chOff x="0" y="0"/>
            <a:chExt cx="3314700" cy="1104900"/>
          </a:xfrm>
        </p:grpSpPr>
        <p:sp>
          <p:nvSpPr>
            <p:cNvPr id="5" name="Freeform 5"/>
            <p:cNvSpPr/>
            <p:nvPr/>
          </p:nvSpPr>
          <p:spPr>
            <a:xfrm>
              <a:off x="0" y="0"/>
              <a:ext cx="3314700" cy="1104773"/>
            </a:xfrm>
            <a:custGeom>
              <a:avLst/>
              <a:gdLst/>
              <a:ahLst/>
              <a:cxnLst/>
              <a:rect l="l" t="t" r="r" b="b"/>
              <a:pathLst>
                <a:path w="3314700" h="1104773">
                  <a:moveTo>
                    <a:pt x="0" y="1086104"/>
                  </a:moveTo>
                  <a:lnTo>
                    <a:pt x="0" y="18796"/>
                  </a:lnTo>
                  <a:cubicBezTo>
                    <a:pt x="0" y="16256"/>
                    <a:pt x="508" y="13843"/>
                    <a:pt x="1397" y="11557"/>
                  </a:cubicBezTo>
                  <a:cubicBezTo>
                    <a:pt x="2286" y="9271"/>
                    <a:pt x="3683" y="7239"/>
                    <a:pt x="5461" y="5461"/>
                  </a:cubicBezTo>
                  <a:cubicBezTo>
                    <a:pt x="7239" y="3683"/>
                    <a:pt x="9271" y="2413"/>
                    <a:pt x="11557" y="1397"/>
                  </a:cubicBezTo>
                  <a:cubicBezTo>
                    <a:pt x="13843" y="381"/>
                    <a:pt x="16256" y="0"/>
                    <a:pt x="18796" y="0"/>
                  </a:cubicBezTo>
                  <a:lnTo>
                    <a:pt x="3295904" y="0"/>
                  </a:lnTo>
                  <a:cubicBezTo>
                    <a:pt x="3298444" y="0"/>
                    <a:pt x="3300730" y="508"/>
                    <a:pt x="3303143" y="1397"/>
                  </a:cubicBezTo>
                  <a:cubicBezTo>
                    <a:pt x="3305556" y="2286"/>
                    <a:pt x="3307461" y="3683"/>
                    <a:pt x="3309239" y="5461"/>
                  </a:cubicBezTo>
                  <a:cubicBezTo>
                    <a:pt x="3311017" y="7239"/>
                    <a:pt x="3312287" y="9271"/>
                    <a:pt x="3313303" y="11557"/>
                  </a:cubicBezTo>
                  <a:cubicBezTo>
                    <a:pt x="3314319" y="13843"/>
                    <a:pt x="3314700" y="16256"/>
                    <a:pt x="3314700" y="18796"/>
                  </a:cubicBezTo>
                  <a:lnTo>
                    <a:pt x="3314700" y="1086104"/>
                  </a:lnTo>
                  <a:cubicBezTo>
                    <a:pt x="3314700" y="1088517"/>
                    <a:pt x="3314192" y="1090930"/>
                    <a:pt x="3313303" y="1093216"/>
                  </a:cubicBezTo>
                  <a:cubicBezTo>
                    <a:pt x="3312414" y="1095502"/>
                    <a:pt x="3311017" y="1097534"/>
                    <a:pt x="3309239" y="1099312"/>
                  </a:cubicBezTo>
                  <a:cubicBezTo>
                    <a:pt x="3307461" y="1101090"/>
                    <a:pt x="3305429" y="1102487"/>
                    <a:pt x="3303143" y="1103376"/>
                  </a:cubicBezTo>
                  <a:cubicBezTo>
                    <a:pt x="3300857" y="1104265"/>
                    <a:pt x="3298444" y="1104773"/>
                    <a:pt x="3295904" y="1104773"/>
                  </a:cubicBezTo>
                  <a:lnTo>
                    <a:pt x="18796" y="1104773"/>
                  </a:lnTo>
                  <a:cubicBezTo>
                    <a:pt x="16256" y="1104773"/>
                    <a:pt x="13843" y="1104265"/>
                    <a:pt x="11557" y="1103376"/>
                  </a:cubicBezTo>
                  <a:cubicBezTo>
                    <a:pt x="9271" y="1102487"/>
                    <a:pt x="7239" y="1101090"/>
                    <a:pt x="5461" y="1099312"/>
                  </a:cubicBezTo>
                  <a:cubicBezTo>
                    <a:pt x="3683" y="1097534"/>
                    <a:pt x="2413" y="1095502"/>
                    <a:pt x="1397" y="1093216"/>
                  </a:cubicBezTo>
                  <a:cubicBezTo>
                    <a:pt x="381" y="1090930"/>
                    <a:pt x="0" y="1088644"/>
                    <a:pt x="0" y="1086104"/>
                  </a:cubicBezTo>
                </a:path>
              </a:pathLst>
            </a:custGeom>
            <a:solidFill>
              <a:srgbClr val="373433"/>
            </a:solidFill>
          </p:spPr>
          <p:txBody>
            <a:bodyPr/>
            <a:lstStyle/>
            <a:p>
              <a:endParaRPr lang="en-US"/>
            </a:p>
          </p:txBody>
        </p:sp>
      </p:grpSp>
      <p:grpSp>
        <p:nvGrpSpPr>
          <p:cNvPr id="6" name="Group 6"/>
          <p:cNvGrpSpPr>
            <a:grpSpLocks noChangeAspect="1"/>
          </p:cNvGrpSpPr>
          <p:nvPr/>
        </p:nvGrpSpPr>
        <p:grpSpPr>
          <a:xfrm>
            <a:off x="7524750" y="3581400"/>
            <a:ext cx="3305175" cy="1104900"/>
            <a:chOff x="0" y="0"/>
            <a:chExt cx="3305175" cy="1104900"/>
          </a:xfrm>
        </p:grpSpPr>
        <p:sp>
          <p:nvSpPr>
            <p:cNvPr id="7" name="Freeform 7"/>
            <p:cNvSpPr/>
            <p:nvPr/>
          </p:nvSpPr>
          <p:spPr>
            <a:xfrm>
              <a:off x="0" y="0"/>
              <a:ext cx="3305175" cy="1104773"/>
            </a:xfrm>
            <a:custGeom>
              <a:avLst/>
              <a:gdLst/>
              <a:ahLst/>
              <a:cxnLst/>
              <a:rect l="l" t="t" r="r" b="b"/>
              <a:pathLst>
                <a:path w="3305175" h="1104773">
                  <a:moveTo>
                    <a:pt x="0" y="1086104"/>
                  </a:moveTo>
                  <a:lnTo>
                    <a:pt x="0" y="18796"/>
                  </a:lnTo>
                  <a:cubicBezTo>
                    <a:pt x="0" y="16256"/>
                    <a:pt x="508" y="13843"/>
                    <a:pt x="1397" y="11557"/>
                  </a:cubicBezTo>
                  <a:cubicBezTo>
                    <a:pt x="2286" y="9271"/>
                    <a:pt x="3683" y="7239"/>
                    <a:pt x="5461" y="5461"/>
                  </a:cubicBezTo>
                  <a:cubicBezTo>
                    <a:pt x="7239" y="3683"/>
                    <a:pt x="9271" y="2413"/>
                    <a:pt x="11557" y="1397"/>
                  </a:cubicBezTo>
                  <a:cubicBezTo>
                    <a:pt x="13843" y="381"/>
                    <a:pt x="16256" y="0"/>
                    <a:pt x="18796" y="0"/>
                  </a:cubicBezTo>
                  <a:lnTo>
                    <a:pt x="3286506" y="0"/>
                  </a:lnTo>
                  <a:cubicBezTo>
                    <a:pt x="3289046" y="0"/>
                    <a:pt x="3291332" y="508"/>
                    <a:pt x="3293618" y="1397"/>
                  </a:cubicBezTo>
                  <a:cubicBezTo>
                    <a:pt x="3295904" y="2286"/>
                    <a:pt x="3297936" y="3683"/>
                    <a:pt x="3299714" y="5461"/>
                  </a:cubicBezTo>
                  <a:cubicBezTo>
                    <a:pt x="3301492" y="7239"/>
                    <a:pt x="3302762" y="9271"/>
                    <a:pt x="3303778" y="11557"/>
                  </a:cubicBezTo>
                  <a:cubicBezTo>
                    <a:pt x="3304794" y="13843"/>
                    <a:pt x="3305175" y="16256"/>
                    <a:pt x="3305175" y="18796"/>
                  </a:cubicBezTo>
                  <a:lnTo>
                    <a:pt x="3305175" y="1086104"/>
                  </a:lnTo>
                  <a:cubicBezTo>
                    <a:pt x="3305175" y="1088517"/>
                    <a:pt x="3304667" y="1090930"/>
                    <a:pt x="3303778" y="1093216"/>
                  </a:cubicBezTo>
                  <a:cubicBezTo>
                    <a:pt x="3302889" y="1095502"/>
                    <a:pt x="3301492" y="1097534"/>
                    <a:pt x="3299714" y="1099312"/>
                  </a:cubicBezTo>
                  <a:cubicBezTo>
                    <a:pt x="3297936" y="1101090"/>
                    <a:pt x="3295904" y="1102487"/>
                    <a:pt x="3293618" y="1103376"/>
                  </a:cubicBezTo>
                  <a:cubicBezTo>
                    <a:pt x="3291332" y="1104265"/>
                    <a:pt x="3288919" y="1104773"/>
                    <a:pt x="3286506" y="1104773"/>
                  </a:cubicBezTo>
                  <a:lnTo>
                    <a:pt x="18796" y="1104773"/>
                  </a:lnTo>
                  <a:cubicBezTo>
                    <a:pt x="16256" y="1104773"/>
                    <a:pt x="13843" y="1104265"/>
                    <a:pt x="11557" y="1103376"/>
                  </a:cubicBezTo>
                  <a:cubicBezTo>
                    <a:pt x="9271" y="1102487"/>
                    <a:pt x="7239" y="1101090"/>
                    <a:pt x="5461" y="1099312"/>
                  </a:cubicBezTo>
                  <a:cubicBezTo>
                    <a:pt x="3683" y="1097534"/>
                    <a:pt x="2413" y="1095502"/>
                    <a:pt x="1397" y="1093216"/>
                  </a:cubicBezTo>
                  <a:cubicBezTo>
                    <a:pt x="381" y="1090930"/>
                    <a:pt x="0" y="1088644"/>
                    <a:pt x="0" y="1086104"/>
                  </a:cubicBezTo>
                </a:path>
              </a:pathLst>
            </a:custGeom>
            <a:solidFill>
              <a:srgbClr val="373433"/>
            </a:solidFill>
          </p:spPr>
          <p:txBody>
            <a:bodyPr/>
            <a:lstStyle/>
            <a:p>
              <a:endParaRPr lang="en-US"/>
            </a:p>
          </p:txBody>
        </p:sp>
      </p:grpSp>
      <p:sp>
        <p:nvSpPr>
          <p:cNvPr id="8" name="TextBox 8"/>
          <p:cNvSpPr txBox="1"/>
          <p:nvPr/>
        </p:nvSpPr>
        <p:spPr>
          <a:xfrm>
            <a:off x="600075" y="1952006"/>
            <a:ext cx="7568136" cy="246964"/>
          </a:xfrm>
          <a:prstGeom prst="rect">
            <a:avLst/>
          </a:prstGeom>
        </p:spPr>
        <p:txBody>
          <a:bodyPr lIns="0" tIns="0" rIns="0" bIns="0" rtlCol="0" anchor="t">
            <a:spAutoFit/>
          </a:bodyPr>
          <a:lstStyle/>
          <a:p>
            <a:pPr algn="l">
              <a:lnSpc>
                <a:spcPts val="1476"/>
              </a:lnSpc>
            </a:pPr>
            <a:r>
              <a:rPr lang="en-US" sz="2952" spc="-29">
                <a:solidFill>
                  <a:srgbClr val="D8B6A4"/>
                </a:solidFill>
                <a:latin typeface="IBM Plex Sans"/>
                <a:ea typeface="IBM Plex Sans"/>
                <a:cs typeface="IBM Plex Sans"/>
                <a:sym typeface="IBM Plex Sans"/>
              </a:rPr>
              <a:t>Introducing the Automatic Diagnosis System</a:t>
            </a:r>
          </a:p>
        </p:txBody>
      </p:sp>
      <p:sp>
        <p:nvSpPr>
          <p:cNvPr id="9" name="TextBox 9"/>
          <p:cNvSpPr txBox="1"/>
          <p:nvPr/>
        </p:nvSpPr>
        <p:spPr>
          <a:xfrm>
            <a:off x="1987448" y="240193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10" name="TextBox 10"/>
          <p:cNvSpPr txBox="1"/>
          <p:nvPr/>
        </p:nvSpPr>
        <p:spPr>
          <a:xfrm>
            <a:off x="1102433" y="3633521"/>
            <a:ext cx="46082" cy="313925"/>
          </a:xfrm>
          <a:prstGeom prst="rect">
            <a:avLst/>
          </a:prstGeom>
        </p:spPr>
        <p:txBody>
          <a:bodyPr lIns="0" tIns="0" rIns="0" bIns="0" rtlCol="0" anchor="t">
            <a:spAutoFit/>
          </a:bodyPr>
          <a:lstStyle/>
          <a:p>
            <a:pPr algn="l">
              <a:lnSpc>
                <a:spcPts val="2760"/>
              </a:lnSpc>
            </a:pPr>
            <a:r>
              <a:rPr lang="en-US" sz="1476" spc="-14">
                <a:solidFill>
                  <a:srgbClr val="C9C2C0"/>
                </a:solidFill>
                <a:latin typeface="IBM Plex Sans"/>
                <a:ea typeface="IBM Plex Sans"/>
                <a:cs typeface="IBM Plex Sans"/>
                <a:sym typeface="IBM Plex Sans"/>
              </a:rPr>
              <a:t> </a:t>
            </a:r>
          </a:p>
        </p:txBody>
      </p:sp>
      <p:sp>
        <p:nvSpPr>
          <p:cNvPr id="11" name="TextBox 11"/>
          <p:cNvSpPr txBox="1"/>
          <p:nvPr/>
        </p:nvSpPr>
        <p:spPr>
          <a:xfrm>
            <a:off x="750094" y="3964038"/>
            <a:ext cx="2496198" cy="296932"/>
          </a:xfrm>
          <a:prstGeom prst="rect">
            <a:avLst/>
          </a:prstGeom>
        </p:spPr>
        <p:txBody>
          <a:bodyPr lIns="0" tIns="0" rIns="0" bIns="0" rtlCol="0" anchor="t">
            <a:spAutoFit/>
          </a:bodyPr>
          <a:lstStyle/>
          <a:p>
            <a:pPr algn="l">
              <a:lnSpc>
                <a:spcPts val="2635"/>
              </a:lnSpc>
            </a:pPr>
            <a:r>
              <a:rPr lang="en-US" sz="1181" spc="-11">
                <a:solidFill>
                  <a:srgbClr val="C9C2C0"/>
                </a:solidFill>
                <a:latin typeface="IBM Plex Sans"/>
                <a:ea typeface="IBM Plex Sans"/>
                <a:cs typeface="IBM Plex Sans"/>
                <a:sym typeface="IBM Plex Sans"/>
              </a:rPr>
              <a:t>Quick results for timely intervention.</a:t>
            </a:r>
          </a:p>
        </p:txBody>
      </p:sp>
      <p:sp>
        <p:nvSpPr>
          <p:cNvPr id="12" name="TextBox 12"/>
          <p:cNvSpPr txBox="1"/>
          <p:nvPr/>
        </p:nvSpPr>
        <p:spPr>
          <a:xfrm>
            <a:off x="4210050" y="4040238"/>
            <a:ext cx="2967771" cy="458857"/>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Reduces the need for expensive, specialized consultations.</a:t>
            </a:r>
          </a:p>
        </p:txBody>
      </p:sp>
      <p:sp>
        <p:nvSpPr>
          <p:cNvPr id="13" name="TextBox 13"/>
          <p:cNvSpPr txBox="1"/>
          <p:nvPr/>
        </p:nvSpPr>
        <p:spPr>
          <a:xfrm>
            <a:off x="600075" y="2506713"/>
            <a:ext cx="9517380" cy="220732"/>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This project presentsan automaticskin diseasediagnosissystembuilt upon advanced deeplearningtechniques. Our primary goal is to assist </a:t>
            </a:r>
          </a:p>
        </p:txBody>
      </p:sp>
      <p:sp>
        <p:nvSpPr>
          <p:cNvPr id="14" name="TextBox 14"/>
          <p:cNvSpPr txBox="1"/>
          <p:nvPr/>
        </p:nvSpPr>
        <p:spPr>
          <a:xfrm>
            <a:off x="600075" y="2744838"/>
            <a:ext cx="9460716" cy="630307"/>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dermatologists andhealthcareprofessionalswitha fast,cost-effective, and accessible diagnostictool.</a:t>
            </a:r>
          </a:p>
          <a:p>
            <a:pPr algn="l">
              <a:lnSpc>
                <a:spcPts val="2953"/>
              </a:lnSpc>
            </a:pPr>
            <a:r>
              <a:rPr lang="en-US" sz="1181" spc="-11">
                <a:solidFill>
                  <a:srgbClr val="C9C2C0"/>
                </a:solidFill>
                <a:latin typeface="IBM Plex Sans"/>
                <a:ea typeface="IBM Plex Sans"/>
                <a:cs typeface="IBM Plex Sans"/>
                <a:sym typeface="IBM Plex Sans"/>
              </a:rPr>
              <a:t>The system is designed to streamline the diagnostic process, enabling earlier intervention and potentially leading to better patient outcomes.</a:t>
            </a:r>
          </a:p>
        </p:txBody>
      </p:sp>
      <p:sp>
        <p:nvSpPr>
          <p:cNvPr id="15" name="TextBox 15"/>
          <p:cNvSpPr txBox="1"/>
          <p:nvPr/>
        </p:nvSpPr>
        <p:spPr>
          <a:xfrm>
            <a:off x="7705455" y="4050946"/>
            <a:ext cx="2944634" cy="464871"/>
          </a:xfrm>
          <a:prstGeom prst="rect">
            <a:avLst/>
          </a:prstGeom>
        </p:spPr>
        <p:txBody>
          <a:bodyPr wrap="square" lIns="0" tIns="0" rIns="0" bIns="0" rtlCol="0" anchor="t">
            <a:spAutoFit/>
          </a:bodyPr>
          <a:lstStyle/>
          <a:p>
            <a:pPr algn="l">
              <a:lnSpc>
                <a:spcPts val="1874"/>
              </a:lnSpc>
            </a:pPr>
            <a:r>
              <a:rPr lang="en-US" sz="1181" spc="-11" dirty="0">
                <a:solidFill>
                  <a:srgbClr val="C9C2C0"/>
                </a:solidFill>
                <a:latin typeface="IBM Plex Sans"/>
                <a:ea typeface="IBM Plex Sans"/>
                <a:cs typeface="IBM Plex Sans"/>
                <a:sym typeface="IBM Plex Sans"/>
              </a:rPr>
              <a:t>Available to a wider population, especially in underserved areas.</a:t>
            </a:r>
          </a:p>
        </p:txBody>
      </p:sp>
      <p:sp>
        <p:nvSpPr>
          <p:cNvPr id="16" name="TextBox 16"/>
          <p:cNvSpPr txBox="1"/>
          <p:nvPr/>
        </p:nvSpPr>
        <p:spPr>
          <a:xfrm>
            <a:off x="750094" y="3700196"/>
            <a:ext cx="1235402" cy="247250"/>
          </a:xfrm>
          <a:prstGeom prst="rect">
            <a:avLst/>
          </a:prstGeom>
        </p:spPr>
        <p:txBody>
          <a:bodyPr lIns="0" tIns="0" rIns="0" bIns="0" rtlCol="0" anchor="t">
            <a:spAutoFit/>
          </a:bodyPr>
          <a:lstStyle/>
          <a:p>
            <a:pPr algn="l">
              <a:lnSpc>
                <a:spcPts val="2066"/>
              </a:lnSpc>
            </a:pPr>
            <a:r>
              <a:rPr lang="en-US" sz="1476" spc="-14">
                <a:solidFill>
                  <a:srgbClr val="C9C2C0"/>
                </a:solidFill>
                <a:latin typeface="IBM Plex Sans"/>
                <a:ea typeface="IBM Plex Sans"/>
                <a:cs typeface="IBM Plex Sans"/>
                <a:sym typeface="IBM Plex Sans"/>
              </a:rPr>
              <a:t>Fast</a:t>
            </a:r>
            <a:r>
              <a:rPr lang="en-US" sz="1476" spc="-14">
                <a:solidFill>
                  <a:srgbClr val="000000"/>
                </a:solidFill>
                <a:latin typeface="IBM Plex Sans"/>
                <a:ea typeface="IBM Plex Sans"/>
                <a:cs typeface="IBM Plex Sans"/>
                <a:sym typeface="IBM Plex Sans"/>
              </a:rPr>
              <a:t> </a:t>
            </a:r>
            <a:r>
              <a:rPr lang="en-US" sz="1476" spc="-14">
                <a:solidFill>
                  <a:srgbClr val="C9C2C0"/>
                </a:solidFill>
                <a:latin typeface="IBM Plex Sans"/>
                <a:ea typeface="IBM Plex Sans"/>
                <a:cs typeface="IBM Plex Sans"/>
                <a:sym typeface="IBM Plex Sans"/>
              </a:rPr>
              <a:t>Diagnosis</a:t>
            </a:r>
          </a:p>
        </p:txBody>
      </p:sp>
      <p:sp>
        <p:nvSpPr>
          <p:cNvPr id="17" name="TextBox 17"/>
          <p:cNvSpPr txBox="1"/>
          <p:nvPr/>
        </p:nvSpPr>
        <p:spPr>
          <a:xfrm>
            <a:off x="4210050" y="3700196"/>
            <a:ext cx="1183367" cy="247250"/>
          </a:xfrm>
          <a:prstGeom prst="rect">
            <a:avLst/>
          </a:prstGeom>
        </p:spPr>
        <p:txBody>
          <a:bodyPr lIns="0" tIns="0" rIns="0" bIns="0" rtlCol="0" anchor="t">
            <a:spAutoFit/>
          </a:bodyPr>
          <a:lstStyle/>
          <a:p>
            <a:pPr algn="l">
              <a:lnSpc>
                <a:spcPts val="2066"/>
              </a:lnSpc>
            </a:pPr>
            <a:r>
              <a:rPr lang="en-US" sz="1476" spc="-14">
                <a:solidFill>
                  <a:srgbClr val="C9C2C0"/>
                </a:solidFill>
                <a:latin typeface="IBM Plex Sans"/>
                <a:ea typeface="IBM Plex Sans"/>
                <a:cs typeface="IBM Plex Sans"/>
                <a:sym typeface="IBM Plex Sans"/>
              </a:rPr>
              <a:t>Cost-Effective</a:t>
            </a:r>
          </a:p>
        </p:txBody>
      </p:sp>
      <p:sp>
        <p:nvSpPr>
          <p:cNvPr id="18" name="TextBox 18"/>
          <p:cNvSpPr txBox="1"/>
          <p:nvPr/>
        </p:nvSpPr>
        <p:spPr>
          <a:xfrm>
            <a:off x="7669824" y="3700196"/>
            <a:ext cx="1397975" cy="250005"/>
          </a:xfrm>
          <a:prstGeom prst="rect">
            <a:avLst/>
          </a:prstGeom>
        </p:spPr>
        <p:txBody>
          <a:bodyPr wrap="square" lIns="0" tIns="0" rIns="0" bIns="0" rtlCol="0" anchor="t">
            <a:spAutoFit/>
          </a:bodyPr>
          <a:lstStyle/>
          <a:p>
            <a:pPr algn="l">
              <a:lnSpc>
                <a:spcPts val="2066"/>
              </a:lnSpc>
            </a:pPr>
            <a:r>
              <a:rPr lang="en-US" sz="1476" spc="-14" dirty="0">
                <a:solidFill>
                  <a:srgbClr val="C9C2C0"/>
                </a:solidFill>
                <a:latin typeface="IBM Plex Sans"/>
                <a:ea typeface="IBM Plex Sans"/>
                <a:cs typeface="IBM Plex Sans"/>
                <a:sym typeface="IBM Plex Sans"/>
              </a:rPr>
              <a:t>Accessible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sp>
        <p:nvSpPr>
          <p:cNvPr id="2" name="Freeform 2"/>
          <p:cNvSpPr/>
          <p:nvPr/>
        </p:nvSpPr>
        <p:spPr>
          <a:xfrm>
            <a:off x="0" y="257"/>
            <a:ext cx="4286250" cy="6438643"/>
          </a:xfrm>
          <a:custGeom>
            <a:avLst/>
            <a:gdLst/>
            <a:ahLst/>
            <a:cxnLst/>
            <a:rect l="l" t="t" r="r" b="b"/>
            <a:pathLst>
              <a:path w="4286250" h="6438643">
                <a:moveTo>
                  <a:pt x="0" y="0"/>
                </a:moveTo>
                <a:lnTo>
                  <a:pt x="4286250" y="0"/>
                </a:lnTo>
                <a:lnTo>
                  <a:pt x="4286250" y="6438643"/>
                </a:lnTo>
                <a:lnTo>
                  <a:pt x="0" y="6438643"/>
                </a:lnTo>
                <a:lnTo>
                  <a:pt x="0" y="0"/>
                </a:lnTo>
                <a:close/>
              </a:path>
            </a:pathLst>
          </a:custGeom>
          <a:blipFill>
            <a:blip r:embed="rId2"/>
            <a:stretch>
              <a:fillRect l="-144" t="-3" r="-144"/>
            </a:stretch>
          </a:blipFill>
        </p:spPr>
        <p:txBody>
          <a:bodyPr/>
          <a:lstStyle/>
          <a:p>
            <a:endParaRPr lang="en-US"/>
          </a:p>
        </p:txBody>
      </p:sp>
      <p:sp>
        <p:nvSpPr>
          <p:cNvPr id="3" name="TextBox 3"/>
          <p:cNvSpPr txBox="1"/>
          <p:nvPr/>
        </p:nvSpPr>
        <p:spPr>
          <a:xfrm>
            <a:off x="4886325" y="2390156"/>
            <a:ext cx="5659012" cy="246964"/>
          </a:xfrm>
          <a:prstGeom prst="rect">
            <a:avLst/>
          </a:prstGeom>
        </p:spPr>
        <p:txBody>
          <a:bodyPr lIns="0" tIns="0" rIns="0" bIns="0" rtlCol="0" anchor="t">
            <a:spAutoFit/>
          </a:bodyPr>
          <a:lstStyle/>
          <a:p>
            <a:pPr algn="l">
              <a:lnSpc>
                <a:spcPts val="1476"/>
              </a:lnSpc>
            </a:pPr>
            <a:r>
              <a:rPr lang="en-US" sz="2952" spc="-29">
                <a:solidFill>
                  <a:srgbClr val="D8B6A4"/>
                </a:solidFill>
                <a:latin typeface="IBM Plex Sans"/>
                <a:ea typeface="IBM Plex Sans"/>
                <a:cs typeface="IBM Plex Sans"/>
                <a:sym typeface="IBM Plex Sans"/>
              </a:rPr>
              <a:t>Leveraging Deep Learning: CNNs</a:t>
            </a:r>
          </a:p>
        </p:txBody>
      </p:sp>
      <p:sp>
        <p:nvSpPr>
          <p:cNvPr id="4" name="TextBox 4"/>
          <p:cNvSpPr txBox="1"/>
          <p:nvPr/>
        </p:nvSpPr>
        <p:spPr>
          <a:xfrm>
            <a:off x="5038592" y="276388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6" name="TextBox 6"/>
          <p:cNvSpPr txBox="1"/>
          <p:nvPr/>
        </p:nvSpPr>
        <p:spPr>
          <a:xfrm>
            <a:off x="4799490" y="3320938"/>
            <a:ext cx="6021019" cy="1705595"/>
          </a:xfrm>
          <a:prstGeom prst="rect">
            <a:avLst/>
          </a:prstGeom>
        </p:spPr>
        <p:txBody>
          <a:bodyPr lIns="0" tIns="0" rIns="0" bIns="0" rtlCol="0" anchor="t">
            <a:spAutoFit/>
          </a:bodyPr>
          <a:lstStyle/>
          <a:p>
            <a:pPr>
              <a:lnSpc>
                <a:spcPts val="1874"/>
              </a:lnSpc>
            </a:pPr>
            <a:r>
              <a:rPr lang="en-IN" dirty="0">
                <a:solidFill>
                  <a:schemeClr val="bg1"/>
                </a:solidFill>
                <a:latin typeface="Times New Roman" panose="02020603050405020304" pitchFamily="18" charset="0"/>
                <a:cs typeface="Times New Roman" panose="02020603050405020304" pitchFamily="18" charset="0"/>
              </a:rPr>
              <a:t>At the core of our system are </a:t>
            </a:r>
            <a:r>
              <a:rPr lang="en-IN" b="1" dirty="0">
                <a:solidFill>
                  <a:schemeClr val="bg1"/>
                </a:solidFill>
                <a:latin typeface="Times New Roman" panose="02020603050405020304" pitchFamily="18" charset="0"/>
                <a:cs typeface="Times New Roman" panose="02020603050405020304" pitchFamily="18" charset="0"/>
              </a:rPr>
              <a:t>Convolutional Neural Networks (CNNs)</a:t>
            </a:r>
            <a:r>
              <a:rPr lang="en-IN" dirty="0">
                <a:solidFill>
                  <a:schemeClr val="bg1"/>
                </a:solidFill>
                <a:latin typeface="Times New Roman" panose="02020603050405020304" pitchFamily="18" charset="0"/>
                <a:cs typeface="Times New Roman" panose="02020603050405020304" pitchFamily="18" charset="0"/>
              </a:rPr>
              <a:t>, a powerful deep learning technique particularly effective for image recognition tasks. CNNs are trained to identify intricate patterns and features within </a:t>
            </a:r>
            <a:r>
              <a:rPr lang="en-IN" dirty="0" err="1">
                <a:solidFill>
                  <a:schemeClr val="bg1"/>
                </a:solidFill>
                <a:latin typeface="Times New Roman" panose="02020603050405020304" pitchFamily="18" charset="0"/>
                <a:cs typeface="Times New Roman" panose="02020603050405020304" pitchFamily="18" charset="0"/>
              </a:rPr>
              <a:t>dermatoscopic</a:t>
            </a:r>
            <a:r>
              <a:rPr lang="en-IN" dirty="0">
                <a:solidFill>
                  <a:schemeClr val="bg1"/>
                </a:solidFill>
                <a:latin typeface="Times New Roman" panose="02020603050405020304" pitchFamily="18" charset="0"/>
                <a:cs typeface="Times New Roman" panose="02020603050405020304" pitchFamily="18" charset="0"/>
              </a:rPr>
              <a:t> images. This allows the model to learn and differentiate between various skin conditions with high precision, mimicking the diagnostic capabilities of human experts.</a:t>
            </a:r>
            <a:endParaRPr lang="en-US" sz="1181" spc="-11" dirty="0">
              <a:solidFill>
                <a:schemeClr val="bg1"/>
              </a:solidFill>
              <a:latin typeface="Times New Roman" panose="02020603050405020304" pitchFamily="18" charset="0"/>
              <a:ea typeface="IBM Plex Sans"/>
              <a:cs typeface="Times New Roman" panose="02020603050405020304" pitchFamily="18" charset="0"/>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609600" y="2876550"/>
            <a:ext cx="2466975" cy="2466975"/>
            <a:chOff x="0" y="0"/>
            <a:chExt cx="3289300" cy="3289300"/>
          </a:xfrm>
        </p:grpSpPr>
        <p:sp>
          <p:nvSpPr>
            <p:cNvPr id="3" name="Freeform 3"/>
            <p:cNvSpPr/>
            <p:nvPr/>
          </p:nvSpPr>
          <p:spPr>
            <a:xfrm>
              <a:off x="0" y="0"/>
              <a:ext cx="3289427" cy="3289300"/>
            </a:xfrm>
            <a:custGeom>
              <a:avLst/>
              <a:gdLst/>
              <a:ahLst/>
              <a:cxnLst/>
              <a:rect l="l" t="t" r="r" b="b"/>
              <a:pathLst>
                <a:path w="3289427" h="3289300">
                  <a:moveTo>
                    <a:pt x="24765" y="0"/>
                  </a:moveTo>
                  <a:cubicBezTo>
                    <a:pt x="17907" y="127"/>
                    <a:pt x="12192" y="2540"/>
                    <a:pt x="7366" y="7366"/>
                  </a:cubicBezTo>
                  <a:cubicBezTo>
                    <a:pt x="2540" y="12192"/>
                    <a:pt x="0" y="18161"/>
                    <a:pt x="0" y="25019"/>
                  </a:cubicBezTo>
                  <a:lnTo>
                    <a:pt x="0" y="3264281"/>
                  </a:lnTo>
                  <a:cubicBezTo>
                    <a:pt x="0" y="3271139"/>
                    <a:pt x="2413" y="3277108"/>
                    <a:pt x="7366" y="3281934"/>
                  </a:cubicBezTo>
                  <a:cubicBezTo>
                    <a:pt x="12319" y="3286760"/>
                    <a:pt x="17907" y="3289173"/>
                    <a:pt x="24638" y="3289300"/>
                  </a:cubicBezTo>
                  <a:lnTo>
                    <a:pt x="3264789" y="3289300"/>
                  </a:lnTo>
                  <a:cubicBezTo>
                    <a:pt x="3271520" y="3289173"/>
                    <a:pt x="3277235" y="3286760"/>
                    <a:pt x="3282061" y="3281934"/>
                  </a:cubicBezTo>
                  <a:cubicBezTo>
                    <a:pt x="3286887" y="3277108"/>
                    <a:pt x="3289427" y="3271139"/>
                    <a:pt x="3289427" y="3264281"/>
                  </a:cubicBezTo>
                  <a:lnTo>
                    <a:pt x="3289427" y="25019"/>
                  </a:lnTo>
                  <a:cubicBezTo>
                    <a:pt x="3289427" y="18161"/>
                    <a:pt x="3287014" y="12192"/>
                    <a:pt x="3282061" y="7366"/>
                  </a:cubicBezTo>
                  <a:cubicBezTo>
                    <a:pt x="3277108" y="2540"/>
                    <a:pt x="3271393" y="127"/>
                    <a:pt x="3264662" y="0"/>
                  </a:cubicBezTo>
                  <a:close/>
                </a:path>
              </a:pathLst>
            </a:custGeom>
            <a:blipFill>
              <a:blip r:embed="rId2"/>
              <a:stretch>
                <a:fillRect l="-224" r="-220"/>
              </a:stretch>
            </a:blipFill>
          </p:spPr>
          <p:txBody>
            <a:bodyPr/>
            <a:lstStyle/>
            <a:p>
              <a:endParaRPr lang="en-US"/>
            </a:p>
          </p:txBody>
        </p:sp>
      </p:grpSp>
      <p:grpSp>
        <p:nvGrpSpPr>
          <p:cNvPr id="4" name="Group 4"/>
          <p:cNvGrpSpPr>
            <a:grpSpLocks noChangeAspect="1"/>
          </p:cNvGrpSpPr>
          <p:nvPr/>
        </p:nvGrpSpPr>
        <p:grpSpPr>
          <a:xfrm>
            <a:off x="3190875" y="2876550"/>
            <a:ext cx="2466975" cy="2466975"/>
            <a:chOff x="0" y="0"/>
            <a:chExt cx="3289300" cy="3289300"/>
          </a:xfrm>
        </p:grpSpPr>
        <p:sp>
          <p:nvSpPr>
            <p:cNvPr id="5" name="Freeform 5"/>
            <p:cNvSpPr/>
            <p:nvPr/>
          </p:nvSpPr>
          <p:spPr>
            <a:xfrm>
              <a:off x="0" y="0"/>
              <a:ext cx="3289427" cy="3289300"/>
            </a:xfrm>
            <a:custGeom>
              <a:avLst/>
              <a:gdLst/>
              <a:ahLst/>
              <a:cxnLst/>
              <a:rect l="l" t="t" r="r" b="b"/>
              <a:pathLst>
                <a:path w="3289427" h="3289300">
                  <a:moveTo>
                    <a:pt x="24765" y="0"/>
                  </a:moveTo>
                  <a:cubicBezTo>
                    <a:pt x="17907" y="127"/>
                    <a:pt x="12192" y="2540"/>
                    <a:pt x="7366" y="7366"/>
                  </a:cubicBezTo>
                  <a:cubicBezTo>
                    <a:pt x="2540" y="12192"/>
                    <a:pt x="0" y="18161"/>
                    <a:pt x="0" y="25019"/>
                  </a:cubicBezTo>
                  <a:lnTo>
                    <a:pt x="0" y="3264281"/>
                  </a:lnTo>
                  <a:cubicBezTo>
                    <a:pt x="0" y="3271139"/>
                    <a:pt x="2413" y="3277108"/>
                    <a:pt x="7366" y="3281934"/>
                  </a:cubicBezTo>
                  <a:cubicBezTo>
                    <a:pt x="12319" y="3286760"/>
                    <a:pt x="17907" y="3289173"/>
                    <a:pt x="24638" y="3289300"/>
                  </a:cubicBezTo>
                  <a:lnTo>
                    <a:pt x="3264789" y="3289300"/>
                  </a:lnTo>
                  <a:cubicBezTo>
                    <a:pt x="3271520" y="3289173"/>
                    <a:pt x="3277235" y="3286760"/>
                    <a:pt x="3282061" y="3281934"/>
                  </a:cubicBezTo>
                  <a:cubicBezTo>
                    <a:pt x="3286887" y="3277108"/>
                    <a:pt x="3289427" y="3271139"/>
                    <a:pt x="3289427" y="3264281"/>
                  </a:cubicBezTo>
                  <a:lnTo>
                    <a:pt x="3289427" y="25019"/>
                  </a:lnTo>
                  <a:cubicBezTo>
                    <a:pt x="3289427" y="18161"/>
                    <a:pt x="3287014" y="12192"/>
                    <a:pt x="3282061" y="7366"/>
                  </a:cubicBezTo>
                  <a:cubicBezTo>
                    <a:pt x="3277108" y="2540"/>
                    <a:pt x="3271393" y="127"/>
                    <a:pt x="3264662" y="0"/>
                  </a:cubicBezTo>
                  <a:close/>
                </a:path>
              </a:pathLst>
            </a:custGeom>
            <a:blipFill>
              <a:blip r:embed="rId3"/>
              <a:stretch>
                <a:fillRect l="-72" r="-69"/>
              </a:stretch>
            </a:blipFill>
          </p:spPr>
          <p:txBody>
            <a:bodyPr/>
            <a:lstStyle/>
            <a:p>
              <a:endParaRPr lang="en-US"/>
            </a:p>
          </p:txBody>
        </p:sp>
      </p:grpSp>
      <p:grpSp>
        <p:nvGrpSpPr>
          <p:cNvPr id="6" name="Group 6"/>
          <p:cNvGrpSpPr>
            <a:grpSpLocks noChangeAspect="1"/>
          </p:cNvGrpSpPr>
          <p:nvPr/>
        </p:nvGrpSpPr>
        <p:grpSpPr>
          <a:xfrm>
            <a:off x="5772150" y="2876550"/>
            <a:ext cx="2466975" cy="2466975"/>
            <a:chOff x="0" y="0"/>
            <a:chExt cx="3289300" cy="3289300"/>
          </a:xfrm>
        </p:grpSpPr>
        <p:sp>
          <p:nvSpPr>
            <p:cNvPr id="7" name="Freeform 7"/>
            <p:cNvSpPr/>
            <p:nvPr/>
          </p:nvSpPr>
          <p:spPr>
            <a:xfrm>
              <a:off x="0" y="0"/>
              <a:ext cx="3289427" cy="3289300"/>
            </a:xfrm>
            <a:custGeom>
              <a:avLst/>
              <a:gdLst/>
              <a:ahLst/>
              <a:cxnLst/>
              <a:rect l="l" t="t" r="r" b="b"/>
              <a:pathLst>
                <a:path w="3289427" h="3289300">
                  <a:moveTo>
                    <a:pt x="25019" y="0"/>
                  </a:moveTo>
                  <a:cubicBezTo>
                    <a:pt x="18161" y="0"/>
                    <a:pt x="12192" y="2413"/>
                    <a:pt x="7366" y="7366"/>
                  </a:cubicBezTo>
                  <a:cubicBezTo>
                    <a:pt x="2540" y="12319"/>
                    <a:pt x="0" y="18161"/>
                    <a:pt x="0" y="25019"/>
                  </a:cubicBezTo>
                  <a:lnTo>
                    <a:pt x="0" y="3264281"/>
                  </a:lnTo>
                  <a:cubicBezTo>
                    <a:pt x="0" y="3271139"/>
                    <a:pt x="2413" y="3277108"/>
                    <a:pt x="7366" y="3281934"/>
                  </a:cubicBezTo>
                  <a:cubicBezTo>
                    <a:pt x="12319" y="3286760"/>
                    <a:pt x="17907" y="3289173"/>
                    <a:pt x="24638" y="3289300"/>
                  </a:cubicBezTo>
                  <a:lnTo>
                    <a:pt x="3264789" y="3289300"/>
                  </a:lnTo>
                  <a:cubicBezTo>
                    <a:pt x="3271520" y="3289173"/>
                    <a:pt x="3277235" y="3286760"/>
                    <a:pt x="3282061" y="3281934"/>
                  </a:cubicBezTo>
                  <a:cubicBezTo>
                    <a:pt x="3286887" y="3277108"/>
                    <a:pt x="3289427" y="3271139"/>
                    <a:pt x="3289427" y="3264281"/>
                  </a:cubicBezTo>
                  <a:lnTo>
                    <a:pt x="3289427" y="25019"/>
                  </a:lnTo>
                  <a:cubicBezTo>
                    <a:pt x="3289427" y="18161"/>
                    <a:pt x="3287014" y="12192"/>
                    <a:pt x="3282061" y="7366"/>
                  </a:cubicBezTo>
                  <a:cubicBezTo>
                    <a:pt x="3277108" y="2540"/>
                    <a:pt x="3271139" y="0"/>
                    <a:pt x="3264281" y="0"/>
                  </a:cubicBezTo>
                  <a:close/>
                </a:path>
              </a:pathLst>
            </a:custGeom>
            <a:blipFill>
              <a:blip r:embed="rId4"/>
              <a:stretch>
                <a:fillRect r="3"/>
              </a:stretch>
            </a:blipFill>
          </p:spPr>
          <p:txBody>
            <a:bodyPr/>
            <a:lstStyle/>
            <a:p>
              <a:endParaRPr lang="en-US"/>
            </a:p>
          </p:txBody>
        </p:sp>
      </p:grpSp>
      <p:grpSp>
        <p:nvGrpSpPr>
          <p:cNvPr id="8" name="Group 8"/>
          <p:cNvGrpSpPr>
            <a:grpSpLocks noChangeAspect="1"/>
          </p:cNvGrpSpPr>
          <p:nvPr/>
        </p:nvGrpSpPr>
        <p:grpSpPr>
          <a:xfrm>
            <a:off x="8353425" y="2876550"/>
            <a:ext cx="2466975" cy="2466975"/>
            <a:chOff x="0" y="0"/>
            <a:chExt cx="3289300" cy="3289300"/>
          </a:xfrm>
        </p:grpSpPr>
        <p:sp>
          <p:nvSpPr>
            <p:cNvPr id="9" name="Freeform 9"/>
            <p:cNvSpPr/>
            <p:nvPr/>
          </p:nvSpPr>
          <p:spPr>
            <a:xfrm>
              <a:off x="0" y="0"/>
              <a:ext cx="3289427" cy="3289300"/>
            </a:xfrm>
            <a:custGeom>
              <a:avLst/>
              <a:gdLst/>
              <a:ahLst/>
              <a:cxnLst/>
              <a:rect l="l" t="t" r="r" b="b"/>
              <a:pathLst>
                <a:path w="3289427" h="3289300">
                  <a:moveTo>
                    <a:pt x="24765" y="0"/>
                  </a:moveTo>
                  <a:cubicBezTo>
                    <a:pt x="17907" y="127"/>
                    <a:pt x="12192" y="2540"/>
                    <a:pt x="7366" y="7366"/>
                  </a:cubicBezTo>
                  <a:cubicBezTo>
                    <a:pt x="2540" y="12192"/>
                    <a:pt x="0" y="18161"/>
                    <a:pt x="0" y="25019"/>
                  </a:cubicBezTo>
                  <a:lnTo>
                    <a:pt x="0" y="3264281"/>
                  </a:lnTo>
                  <a:cubicBezTo>
                    <a:pt x="0" y="3271139"/>
                    <a:pt x="2413" y="3277108"/>
                    <a:pt x="7366" y="3281934"/>
                  </a:cubicBezTo>
                  <a:cubicBezTo>
                    <a:pt x="12319" y="3286760"/>
                    <a:pt x="17907" y="3289173"/>
                    <a:pt x="24638" y="3289300"/>
                  </a:cubicBezTo>
                  <a:lnTo>
                    <a:pt x="3264789" y="3289300"/>
                  </a:lnTo>
                  <a:cubicBezTo>
                    <a:pt x="3271520" y="3289173"/>
                    <a:pt x="3277235" y="3286760"/>
                    <a:pt x="3282061" y="3281934"/>
                  </a:cubicBezTo>
                  <a:cubicBezTo>
                    <a:pt x="3286887" y="3277108"/>
                    <a:pt x="3289427" y="3271139"/>
                    <a:pt x="3289427" y="3264281"/>
                  </a:cubicBezTo>
                  <a:lnTo>
                    <a:pt x="3289427" y="25019"/>
                  </a:lnTo>
                  <a:cubicBezTo>
                    <a:pt x="3289427" y="18161"/>
                    <a:pt x="3287014" y="12192"/>
                    <a:pt x="3282061" y="7366"/>
                  </a:cubicBezTo>
                  <a:cubicBezTo>
                    <a:pt x="3277108" y="2540"/>
                    <a:pt x="3271393" y="127"/>
                    <a:pt x="3264662" y="0"/>
                  </a:cubicBezTo>
                  <a:close/>
                </a:path>
              </a:pathLst>
            </a:custGeom>
            <a:blipFill>
              <a:blip r:embed="rId5"/>
              <a:stretch>
                <a:fillRect l="-94" r="-90"/>
              </a:stretch>
            </a:blipFill>
          </p:spPr>
          <p:txBody>
            <a:bodyPr/>
            <a:lstStyle/>
            <a:p>
              <a:endParaRPr lang="en-US"/>
            </a:p>
          </p:txBody>
        </p:sp>
      </p:grpSp>
      <p:sp>
        <p:nvSpPr>
          <p:cNvPr id="10" name="TextBox 10"/>
          <p:cNvSpPr txBox="1"/>
          <p:nvPr/>
        </p:nvSpPr>
        <p:spPr>
          <a:xfrm>
            <a:off x="600075" y="1151906"/>
            <a:ext cx="5269325" cy="246964"/>
          </a:xfrm>
          <a:prstGeom prst="rect">
            <a:avLst/>
          </a:prstGeom>
        </p:spPr>
        <p:txBody>
          <a:bodyPr lIns="0" tIns="0" rIns="0" bIns="0" rtlCol="0" anchor="t">
            <a:spAutoFit/>
          </a:bodyPr>
          <a:lstStyle/>
          <a:p>
            <a:pPr algn="l">
              <a:lnSpc>
                <a:spcPts val="1476"/>
              </a:lnSpc>
            </a:pPr>
            <a:r>
              <a:rPr lang="en-US" sz="2952" spc="-29">
                <a:solidFill>
                  <a:srgbClr val="D8B6A4"/>
                </a:solidFill>
                <a:latin typeface="IBM Plex Sans"/>
                <a:ea typeface="IBM Plex Sans"/>
                <a:cs typeface="IBM Plex Sans"/>
                <a:sym typeface="IBM Plex Sans"/>
              </a:rPr>
              <a:t>Training with Labeled Datasets</a:t>
            </a:r>
          </a:p>
        </p:txBody>
      </p:sp>
      <p:sp>
        <p:nvSpPr>
          <p:cNvPr id="11" name="TextBox 11"/>
          <p:cNvSpPr txBox="1"/>
          <p:nvPr/>
        </p:nvSpPr>
        <p:spPr>
          <a:xfrm>
            <a:off x="1896389" y="160183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12" name="TextBox 12"/>
          <p:cNvSpPr txBox="1"/>
          <p:nvPr/>
        </p:nvSpPr>
        <p:spPr>
          <a:xfrm>
            <a:off x="600075" y="1706613"/>
            <a:ext cx="10416978" cy="220732"/>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The accuracy of ourdeeplearning model is achievedby trainingiton a comprehensive labeled dataset of dermatoscopic images. Each image in the dataset </a:t>
            </a:r>
          </a:p>
        </p:txBody>
      </p:sp>
      <p:sp>
        <p:nvSpPr>
          <p:cNvPr id="13" name="TextBox 13"/>
          <p:cNvSpPr txBox="1"/>
          <p:nvPr/>
        </p:nvSpPr>
        <p:spPr>
          <a:xfrm>
            <a:off x="600075" y="1944738"/>
            <a:ext cx="9991382" cy="630307"/>
          </a:xfrm>
          <a:prstGeom prst="rect">
            <a:avLst/>
          </a:prstGeom>
        </p:spPr>
        <p:txBody>
          <a:bodyPr lIns="0" tIns="0" rIns="0" bIns="0" rtlCol="0" anchor="t">
            <a:spAutoFit/>
          </a:bodyPr>
          <a:lstStyle/>
          <a:p>
            <a:pPr algn="l">
              <a:lnSpc>
                <a:spcPts val="1874"/>
              </a:lnSpc>
            </a:pPr>
            <a:r>
              <a:rPr lang="en-US" sz="1181" spc="-11">
                <a:solidFill>
                  <a:srgbClr val="C9C2C0"/>
                </a:solidFill>
                <a:latin typeface="IBM Plex Sans"/>
                <a:ea typeface="IBM Plex Sans"/>
                <a:cs typeface="IBM Plex Sans"/>
                <a:sym typeface="IBM Plex Sans"/>
              </a:rPr>
              <a:t>ismeticulously categorizedwithits corresponding skin condition.</a:t>
            </a:r>
          </a:p>
          <a:p>
            <a:pPr algn="l">
              <a:lnSpc>
                <a:spcPts val="2953"/>
              </a:lnSpc>
            </a:pPr>
            <a:r>
              <a:rPr lang="en-US" sz="1181" spc="-11">
                <a:solidFill>
                  <a:srgbClr val="C9C2C0"/>
                </a:solidFill>
                <a:latin typeface="IBM Plex Sans"/>
                <a:ea typeface="IBM Plex Sans"/>
                <a:cs typeface="IBM Plex Sans"/>
                <a:sym typeface="IBM Plex Sans"/>
              </a:rPr>
              <a:t>This rigorous training process enables the CNN to accurately classify a wide range of skin conditions, ensuring robust and reliable diagnostic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sp>
        <p:nvSpPr>
          <p:cNvPr id="18" name="TextBox 18"/>
          <p:cNvSpPr txBox="1"/>
          <p:nvPr/>
        </p:nvSpPr>
        <p:spPr>
          <a:xfrm>
            <a:off x="600075" y="1142381"/>
            <a:ext cx="6357880" cy="246964"/>
          </a:xfrm>
          <a:prstGeom prst="rect">
            <a:avLst/>
          </a:prstGeom>
        </p:spPr>
        <p:txBody>
          <a:bodyPr lIns="0" tIns="0" rIns="0" bIns="0" rtlCol="0" anchor="t">
            <a:spAutoFit/>
          </a:bodyPr>
          <a:lstStyle/>
          <a:p>
            <a:pPr algn="l">
              <a:lnSpc>
                <a:spcPts val="1476"/>
              </a:lnSpc>
            </a:pPr>
            <a:r>
              <a:rPr lang="en-US" sz="2952" spc="-29">
                <a:solidFill>
                  <a:srgbClr val="D8B6A4"/>
                </a:solidFill>
                <a:latin typeface="IBM Plex Sans"/>
                <a:ea typeface="IBM Plex Sans"/>
                <a:cs typeface="IBM Plex Sans"/>
                <a:sym typeface="IBM Plex Sans"/>
              </a:rPr>
              <a:t>Diagnosing Common Skin Conditions</a:t>
            </a:r>
          </a:p>
        </p:txBody>
      </p:sp>
      <p:sp>
        <p:nvSpPr>
          <p:cNvPr id="19" name="TextBox 19"/>
          <p:cNvSpPr txBox="1"/>
          <p:nvPr/>
        </p:nvSpPr>
        <p:spPr>
          <a:xfrm>
            <a:off x="859460" y="1592313"/>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23" name="TextBox 23"/>
          <p:cNvSpPr txBox="1"/>
          <p:nvPr/>
        </p:nvSpPr>
        <p:spPr>
          <a:xfrm>
            <a:off x="600075" y="1592313"/>
            <a:ext cx="6980577" cy="325507"/>
          </a:xfrm>
          <a:prstGeom prst="rect">
            <a:avLst/>
          </a:prstGeom>
        </p:spPr>
        <p:txBody>
          <a:bodyPr lIns="0" tIns="0" rIns="0" bIns="0" rtlCol="0" anchor="t">
            <a:spAutoFit/>
          </a:bodyPr>
          <a:lstStyle/>
          <a:p>
            <a:pPr algn="l">
              <a:lnSpc>
                <a:spcPts val="2953"/>
              </a:lnSpc>
            </a:pPr>
            <a:r>
              <a:rPr lang="en-US" sz="1181" spc="-11" dirty="0">
                <a:solidFill>
                  <a:srgbClr val="C9C2C0"/>
                </a:solidFill>
                <a:latin typeface="IBM Plex Sans"/>
                <a:ea typeface="IBM Plex Sans"/>
                <a:cs typeface="IBM Plex Sans"/>
                <a:sym typeface="IBM Plex Sans"/>
              </a:rPr>
              <a:t>Our</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system</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is</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capable</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of</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classifying</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various</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prevalent</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skin</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conditions</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with</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high</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accuracy.</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This</a:t>
            </a:r>
            <a:r>
              <a:rPr lang="en-US" sz="1181" spc="-11" dirty="0">
                <a:solidFill>
                  <a:srgbClr val="000000"/>
                </a:solidFill>
                <a:latin typeface="IBM Plex Sans"/>
                <a:ea typeface="IBM Plex Sans"/>
                <a:cs typeface="IBM Plex Sans"/>
                <a:sym typeface="IBM Plex Sans"/>
              </a:rPr>
              <a:t> </a:t>
            </a:r>
            <a:r>
              <a:rPr lang="en-US" sz="1181" spc="-11" dirty="0">
                <a:solidFill>
                  <a:srgbClr val="C9C2C0"/>
                </a:solidFill>
                <a:latin typeface="IBM Plex Sans"/>
                <a:ea typeface="IBM Plex Sans"/>
                <a:cs typeface="IBM Plex Sans"/>
                <a:sym typeface="IBM Plex Sans"/>
              </a:rPr>
              <a:t>includes:</a:t>
            </a:r>
          </a:p>
        </p:txBody>
      </p:sp>
      <p:sp>
        <p:nvSpPr>
          <p:cNvPr id="33" name="TextBox 32">
            <a:extLst>
              <a:ext uri="{FF2B5EF4-FFF2-40B4-BE49-F238E27FC236}">
                <a16:creationId xmlns:a16="http://schemas.microsoft.com/office/drawing/2014/main" id="{222175D5-4277-EC7A-E0FC-B39E91C500AF}"/>
              </a:ext>
            </a:extLst>
          </p:cNvPr>
          <p:cNvSpPr txBox="1"/>
          <p:nvPr/>
        </p:nvSpPr>
        <p:spPr>
          <a:xfrm>
            <a:off x="596119" y="1993252"/>
            <a:ext cx="4661681" cy="2862322"/>
          </a:xfrm>
          <a:prstGeom prst="rect">
            <a:avLst/>
          </a:prstGeom>
          <a:noFill/>
        </p:spPr>
        <p:txBody>
          <a:bodyPr wrap="square" rtlCol="0">
            <a:spAutoFit/>
          </a:bodyPr>
          <a:lstStyle/>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Acne And Rosacea</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Actinic Keratosis Basal Cell Carcinoma And Other Malignant Lesions</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Atopic Dermatitis</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Ba Cellulitis’</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Ba Impetigo</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Benign</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Bullous Disease</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Cellulitis Impetigo And Other Bacterial Infections</a:t>
            </a:r>
          </a:p>
          <a:p>
            <a:pPr marL="228600" indent="-2286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Eczema </a:t>
            </a:r>
          </a:p>
          <a:p>
            <a:pPr marL="342900" indent="-342900">
              <a:buFont typeface="+mj-lt"/>
              <a:buAutoNum type="arabicPeriod"/>
            </a:pPr>
            <a:r>
              <a:rPr lang="en-IN" sz="1500" dirty="0">
                <a:solidFill>
                  <a:schemeClr val="bg1"/>
                </a:solidFill>
                <a:latin typeface="Times New Roman" panose="02020603050405020304" pitchFamily="18" charset="0"/>
                <a:cs typeface="Times New Roman" panose="02020603050405020304" pitchFamily="18" charset="0"/>
              </a:rPr>
              <a:t>Exanthems And Drug Eruptions</a:t>
            </a:r>
          </a:p>
          <a:p>
            <a:pPr marL="285750" indent="-285750">
              <a:buFont typeface="+mj-lt"/>
              <a:buAutoNum type="arabicPeriod"/>
            </a:pPr>
            <a:endParaRPr lang="en-US" sz="15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5B68A783-5CB3-D389-7192-35F6D148380C}"/>
              </a:ext>
            </a:extLst>
          </p:cNvPr>
          <p:cNvSpPr txBox="1"/>
          <p:nvPr/>
        </p:nvSpPr>
        <p:spPr>
          <a:xfrm>
            <a:off x="5403941" y="1964452"/>
            <a:ext cx="4616520" cy="2631490"/>
          </a:xfrm>
          <a:prstGeom prst="rect">
            <a:avLst/>
          </a:prstGeom>
          <a:noFill/>
        </p:spPr>
        <p:txBody>
          <a:bodyPr wrap="none" rtlCol="0">
            <a:spAutoFit/>
          </a:bodyPr>
          <a:lstStyle/>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Fu Athlete Foot</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Fu Nail Fungus</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Fu Ringworm</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Hair Loss Photos Alopecia And Other Hair Diseases’</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Herpes </a:t>
            </a:r>
            <a:r>
              <a:rPr lang="en-IN" sz="1500" dirty="0" err="1">
                <a:solidFill>
                  <a:schemeClr val="bg1"/>
                </a:solidFill>
                <a:latin typeface="Times New Roman" panose="02020603050405020304" pitchFamily="18" charset="0"/>
                <a:cs typeface="Times New Roman" panose="02020603050405020304" pitchFamily="18" charset="0"/>
              </a:rPr>
              <a:t>Hpv</a:t>
            </a:r>
            <a:r>
              <a:rPr lang="en-IN" sz="1500" dirty="0">
                <a:solidFill>
                  <a:schemeClr val="bg1"/>
                </a:solidFill>
                <a:latin typeface="Times New Roman" panose="02020603050405020304" pitchFamily="18" charset="0"/>
                <a:cs typeface="Times New Roman" panose="02020603050405020304" pitchFamily="18" charset="0"/>
              </a:rPr>
              <a:t> And Other </a:t>
            </a:r>
            <a:r>
              <a:rPr lang="en-IN" sz="1500" dirty="0" err="1">
                <a:solidFill>
                  <a:schemeClr val="bg1"/>
                </a:solidFill>
                <a:latin typeface="Times New Roman" panose="02020603050405020304" pitchFamily="18" charset="0"/>
                <a:cs typeface="Times New Roman" panose="02020603050405020304" pitchFamily="18" charset="0"/>
              </a:rPr>
              <a:t>Stds</a:t>
            </a:r>
            <a:endParaRPr lang="en-IN" sz="1500" dirty="0">
              <a:solidFill>
                <a:schemeClr val="bg1"/>
              </a:solidFill>
              <a:latin typeface="Times New Roman" panose="02020603050405020304" pitchFamily="18" charset="0"/>
              <a:cs typeface="Times New Roman" panose="02020603050405020304" pitchFamily="18" charset="0"/>
            </a:endParaRP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Light Diseases And Disorders Of Pigmentation</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Lupus And Other Connective Tissue Diseases</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Malignant</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Melanoma Skin Cancer Nevi And Moles</a:t>
            </a:r>
          </a:p>
          <a:p>
            <a:pPr marL="342900" indent="-342900">
              <a:buFont typeface="+mj-lt"/>
              <a:buAutoNum type="arabicPeriod" startAt="11"/>
            </a:pPr>
            <a:r>
              <a:rPr lang="en-IN" sz="1500" dirty="0">
                <a:solidFill>
                  <a:schemeClr val="bg1"/>
                </a:solidFill>
                <a:latin typeface="Times New Roman" panose="02020603050405020304" pitchFamily="18" charset="0"/>
                <a:cs typeface="Times New Roman" panose="02020603050405020304" pitchFamily="18" charset="0"/>
              </a:rPr>
              <a:t>Rashes</a:t>
            </a:r>
          </a:p>
          <a:p>
            <a:pPr marL="342900" indent="-342900">
              <a:buFont typeface="+mj-lt"/>
              <a:buAutoNum type="arabicPeriod" startAt="11"/>
            </a:pP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sp>
        <p:nvSpPr>
          <p:cNvPr id="3" name="TextBox 3"/>
          <p:cNvSpPr txBox="1"/>
          <p:nvPr/>
        </p:nvSpPr>
        <p:spPr>
          <a:xfrm>
            <a:off x="4886325" y="1942481"/>
            <a:ext cx="4803743" cy="923239"/>
          </a:xfrm>
          <a:prstGeom prst="rect">
            <a:avLst/>
          </a:prstGeom>
        </p:spPr>
        <p:txBody>
          <a:bodyPr lIns="0" tIns="0" rIns="0" bIns="0" rtlCol="0" anchor="t">
            <a:spAutoFit/>
          </a:bodyPr>
          <a:lstStyle/>
          <a:p>
            <a:pPr algn="l">
              <a:lnSpc>
                <a:spcPts val="3676"/>
              </a:lnSpc>
            </a:pPr>
            <a:r>
              <a:rPr lang="en-US" sz="2952" spc="-29">
                <a:solidFill>
                  <a:srgbClr val="D8B6A4"/>
                </a:solidFill>
                <a:latin typeface="IBM Plex Sans"/>
                <a:ea typeface="IBM Plex Sans"/>
                <a:cs typeface="IBM Plex Sans"/>
                <a:sym typeface="IBM Plex Sans"/>
              </a:rPr>
              <a:t>User-Friendly Interface and Deployment</a:t>
            </a:r>
          </a:p>
        </p:txBody>
      </p:sp>
      <p:sp>
        <p:nvSpPr>
          <p:cNvPr id="4" name="TextBox 4"/>
          <p:cNvSpPr txBox="1"/>
          <p:nvPr/>
        </p:nvSpPr>
        <p:spPr>
          <a:xfrm>
            <a:off x="5634771" y="299248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5" name="TextBox 5"/>
          <p:cNvSpPr txBox="1"/>
          <p:nvPr/>
        </p:nvSpPr>
        <p:spPr>
          <a:xfrm>
            <a:off x="4886325" y="3087738"/>
            <a:ext cx="5915358" cy="221214"/>
          </a:xfrm>
          <a:prstGeom prst="rect">
            <a:avLst/>
          </a:prstGeom>
        </p:spPr>
        <p:txBody>
          <a:bodyPr lIns="0" tIns="0" rIns="0" bIns="0" rtlCol="0" anchor="t">
            <a:spAutoFit/>
          </a:bodyPr>
          <a:lstStyle/>
          <a:p>
            <a:pPr algn="l">
              <a:lnSpc>
                <a:spcPts val="1925"/>
              </a:lnSpc>
            </a:pPr>
            <a:r>
              <a:rPr lang="en-US" sz="1181" spc="-11" dirty="0">
                <a:solidFill>
                  <a:srgbClr val="C9C2C0"/>
                </a:solidFill>
                <a:latin typeface="IBM Plex Sans"/>
                <a:ea typeface="IBM Plex Sans"/>
                <a:cs typeface="IBM Plex Sans"/>
                <a:sym typeface="IBM Plex Sans"/>
              </a:rPr>
              <a:t>The system is deployed via an intuitive and user-friendly interface, ensuring ease of use </a:t>
            </a:r>
          </a:p>
        </p:txBody>
      </p:sp>
      <p:sp>
        <p:nvSpPr>
          <p:cNvPr id="6" name="TextBox 6"/>
          <p:cNvSpPr txBox="1"/>
          <p:nvPr/>
        </p:nvSpPr>
        <p:spPr>
          <a:xfrm>
            <a:off x="4886325" y="3325863"/>
            <a:ext cx="5954982" cy="997068"/>
          </a:xfrm>
          <a:prstGeom prst="rect">
            <a:avLst/>
          </a:prstGeom>
        </p:spPr>
        <p:txBody>
          <a:bodyPr lIns="0" tIns="0" rIns="0" bIns="0" rtlCol="0" anchor="t">
            <a:spAutoFit/>
          </a:bodyPr>
          <a:lstStyle/>
          <a:p>
            <a:pPr algn="l">
              <a:lnSpc>
                <a:spcPts val="1925"/>
              </a:lnSpc>
            </a:pPr>
            <a:r>
              <a:rPr lang="en-US" sz="1181" spc="-11" dirty="0">
                <a:solidFill>
                  <a:srgbClr val="C9C2C0"/>
                </a:solidFill>
                <a:latin typeface="IBM Plex Sans"/>
                <a:ea typeface="IBM Plex Sans"/>
                <a:cs typeface="IBM Plex Sans"/>
                <a:sym typeface="IBM Plex Sans"/>
              </a:rPr>
              <a:t>for healthcare professionals and patients alike. The design prioritizes simplicity and efficiency.</a:t>
            </a:r>
          </a:p>
          <a:p>
            <a:pPr algn="l">
              <a:lnSpc>
                <a:spcPts val="2953"/>
              </a:lnSpc>
            </a:pPr>
            <a:r>
              <a:rPr lang="en-US" sz="1181" spc="-11" dirty="0">
                <a:solidFill>
                  <a:srgbClr val="C9C2C0"/>
                </a:solidFill>
                <a:latin typeface="IBM Plex Sans"/>
                <a:ea typeface="IBM Plex Sans"/>
                <a:cs typeface="IBM Plex Sans"/>
                <a:sym typeface="IBM Plex Sans"/>
              </a:rPr>
              <a:t>Users can easily upload an image of the affected skin area and receive instant diagnostic </a:t>
            </a:r>
          </a:p>
          <a:p>
            <a:pPr algn="l">
              <a:lnSpc>
                <a:spcPts val="947"/>
              </a:lnSpc>
            </a:pPr>
            <a:r>
              <a:rPr lang="en-US" sz="1181" spc="-11" dirty="0">
                <a:solidFill>
                  <a:srgbClr val="C9C2C0"/>
                </a:solidFill>
                <a:latin typeface="IBM Plex Sans"/>
                <a:ea typeface="IBM Plex Sans"/>
                <a:cs typeface="IBM Plex Sans"/>
                <a:sym typeface="IBM Plex Sans"/>
              </a:rPr>
              <a:t>results, making the process seamless and accessible.</a:t>
            </a:r>
          </a:p>
        </p:txBody>
      </p:sp>
      <p:pic>
        <p:nvPicPr>
          <p:cNvPr id="8" name="Picture 7" descr="A screenshot of a computer&#10;&#10;AI-generated content may be incorrect.">
            <a:extLst>
              <a:ext uri="{FF2B5EF4-FFF2-40B4-BE49-F238E27FC236}">
                <a16:creationId xmlns:a16="http://schemas.microsoft.com/office/drawing/2014/main" id="{76D2D7AB-F7F1-D3C5-3752-BFD799AB3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1" y="1847850"/>
            <a:ext cx="4129158" cy="26853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619125" y="2314575"/>
            <a:ext cx="47625" cy="47625"/>
            <a:chOff x="0" y="0"/>
            <a:chExt cx="47625" cy="47625"/>
          </a:xfrm>
        </p:grpSpPr>
        <p:sp>
          <p:nvSpPr>
            <p:cNvPr id="3" name="Freeform 3"/>
            <p:cNvSpPr/>
            <p:nvPr/>
          </p:nvSpPr>
          <p:spPr>
            <a:xfrm>
              <a:off x="0" y="0"/>
              <a:ext cx="47752" cy="47752"/>
            </a:xfrm>
            <a:custGeom>
              <a:avLst/>
              <a:gdLst/>
              <a:ahLst/>
              <a:cxnLst/>
              <a:rect l="l" t="t" r="r" b="b"/>
              <a:pathLst>
                <a:path w="47752" h="47752">
                  <a:moveTo>
                    <a:pt x="47625" y="23876"/>
                  </a:moveTo>
                  <a:cubicBezTo>
                    <a:pt x="47625" y="27051"/>
                    <a:pt x="46990" y="30099"/>
                    <a:pt x="45847" y="33020"/>
                  </a:cubicBezTo>
                  <a:cubicBezTo>
                    <a:pt x="44704" y="35941"/>
                    <a:pt x="42926" y="38481"/>
                    <a:pt x="40640" y="40767"/>
                  </a:cubicBezTo>
                  <a:cubicBezTo>
                    <a:pt x="38354" y="43053"/>
                    <a:pt x="35814" y="44704"/>
                    <a:pt x="32893" y="45974"/>
                  </a:cubicBezTo>
                  <a:cubicBezTo>
                    <a:pt x="29972" y="47244"/>
                    <a:pt x="26924" y="47752"/>
                    <a:pt x="23749" y="47752"/>
                  </a:cubicBezTo>
                  <a:cubicBezTo>
                    <a:pt x="20574" y="47752"/>
                    <a:pt x="17526" y="47117"/>
                    <a:pt x="14605" y="45974"/>
                  </a:cubicBezTo>
                  <a:cubicBezTo>
                    <a:pt x="11684" y="44831"/>
                    <a:pt x="9271" y="42926"/>
                    <a:pt x="6985" y="40640"/>
                  </a:cubicBezTo>
                  <a:cubicBezTo>
                    <a:pt x="4699" y="38354"/>
                    <a:pt x="3048" y="35814"/>
                    <a:pt x="1778" y="32893"/>
                  </a:cubicBezTo>
                  <a:cubicBezTo>
                    <a:pt x="508" y="29972"/>
                    <a:pt x="0" y="26924"/>
                    <a:pt x="0" y="23876"/>
                  </a:cubicBezTo>
                  <a:cubicBezTo>
                    <a:pt x="0" y="20828"/>
                    <a:pt x="635" y="17653"/>
                    <a:pt x="1778" y="14732"/>
                  </a:cubicBezTo>
                  <a:cubicBezTo>
                    <a:pt x="2921" y="11811"/>
                    <a:pt x="4699" y="9271"/>
                    <a:pt x="6985" y="6985"/>
                  </a:cubicBezTo>
                  <a:cubicBezTo>
                    <a:pt x="9271" y="4699"/>
                    <a:pt x="11811" y="3048"/>
                    <a:pt x="14732" y="1778"/>
                  </a:cubicBezTo>
                  <a:cubicBezTo>
                    <a:pt x="17653" y="508"/>
                    <a:pt x="20701" y="0"/>
                    <a:pt x="23876" y="0"/>
                  </a:cubicBezTo>
                  <a:cubicBezTo>
                    <a:pt x="27051" y="0"/>
                    <a:pt x="30099" y="635"/>
                    <a:pt x="33020" y="1778"/>
                  </a:cubicBezTo>
                  <a:cubicBezTo>
                    <a:pt x="35941" y="2921"/>
                    <a:pt x="38481" y="4699"/>
                    <a:pt x="40767" y="6985"/>
                  </a:cubicBezTo>
                  <a:cubicBezTo>
                    <a:pt x="43053" y="9271"/>
                    <a:pt x="44704" y="11811"/>
                    <a:pt x="45974" y="14732"/>
                  </a:cubicBezTo>
                  <a:cubicBezTo>
                    <a:pt x="47244" y="17653"/>
                    <a:pt x="47752" y="20701"/>
                    <a:pt x="47752" y="23876"/>
                  </a:cubicBezTo>
                </a:path>
              </a:pathLst>
            </a:custGeom>
            <a:solidFill>
              <a:srgbClr val="C9C2C0"/>
            </a:solidFill>
          </p:spPr>
          <p:txBody>
            <a:bodyPr/>
            <a:lstStyle/>
            <a:p>
              <a:endParaRPr lang="en-US"/>
            </a:p>
          </p:txBody>
        </p:sp>
      </p:grpSp>
      <p:grpSp>
        <p:nvGrpSpPr>
          <p:cNvPr id="4" name="Group 4"/>
          <p:cNvGrpSpPr>
            <a:grpSpLocks noChangeAspect="1"/>
          </p:cNvGrpSpPr>
          <p:nvPr/>
        </p:nvGrpSpPr>
        <p:grpSpPr>
          <a:xfrm>
            <a:off x="619125" y="2609850"/>
            <a:ext cx="47625" cy="47625"/>
            <a:chOff x="0" y="0"/>
            <a:chExt cx="47625" cy="47625"/>
          </a:xfrm>
        </p:grpSpPr>
        <p:sp>
          <p:nvSpPr>
            <p:cNvPr id="5" name="Freeform 5"/>
            <p:cNvSpPr/>
            <p:nvPr/>
          </p:nvSpPr>
          <p:spPr>
            <a:xfrm>
              <a:off x="0" y="0"/>
              <a:ext cx="47752" cy="47752"/>
            </a:xfrm>
            <a:custGeom>
              <a:avLst/>
              <a:gdLst/>
              <a:ahLst/>
              <a:cxnLst/>
              <a:rect l="l" t="t" r="r" b="b"/>
              <a:pathLst>
                <a:path w="47752" h="47752">
                  <a:moveTo>
                    <a:pt x="47625" y="23876"/>
                  </a:moveTo>
                  <a:cubicBezTo>
                    <a:pt x="47625" y="27051"/>
                    <a:pt x="46990" y="30099"/>
                    <a:pt x="45847" y="33020"/>
                  </a:cubicBezTo>
                  <a:cubicBezTo>
                    <a:pt x="44704" y="35941"/>
                    <a:pt x="42926" y="38481"/>
                    <a:pt x="40640" y="40767"/>
                  </a:cubicBezTo>
                  <a:cubicBezTo>
                    <a:pt x="38354" y="43053"/>
                    <a:pt x="35814" y="44704"/>
                    <a:pt x="32893" y="45974"/>
                  </a:cubicBezTo>
                  <a:cubicBezTo>
                    <a:pt x="29972" y="47244"/>
                    <a:pt x="26924" y="47752"/>
                    <a:pt x="23749" y="47752"/>
                  </a:cubicBezTo>
                  <a:cubicBezTo>
                    <a:pt x="20574" y="47752"/>
                    <a:pt x="17526" y="47117"/>
                    <a:pt x="14605" y="45974"/>
                  </a:cubicBezTo>
                  <a:cubicBezTo>
                    <a:pt x="11684" y="44831"/>
                    <a:pt x="9271" y="42926"/>
                    <a:pt x="6985" y="40640"/>
                  </a:cubicBezTo>
                  <a:cubicBezTo>
                    <a:pt x="4699" y="38354"/>
                    <a:pt x="3048" y="35814"/>
                    <a:pt x="1778" y="32893"/>
                  </a:cubicBezTo>
                  <a:cubicBezTo>
                    <a:pt x="508" y="29972"/>
                    <a:pt x="0" y="26924"/>
                    <a:pt x="0" y="23876"/>
                  </a:cubicBezTo>
                  <a:cubicBezTo>
                    <a:pt x="0" y="20828"/>
                    <a:pt x="635" y="17653"/>
                    <a:pt x="1778" y="14732"/>
                  </a:cubicBezTo>
                  <a:cubicBezTo>
                    <a:pt x="2921" y="11811"/>
                    <a:pt x="4699" y="9271"/>
                    <a:pt x="6985" y="6985"/>
                  </a:cubicBezTo>
                  <a:cubicBezTo>
                    <a:pt x="9271" y="4699"/>
                    <a:pt x="11811" y="3048"/>
                    <a:pt x="14732" y="1778"/>
                  </a:cubicBezTo>
                  <a:cubicBezTo>
                    <a:pt x="17653" y="508"/>
                    <a:pt x="20701" y="0"/>
                    <a:pt x="23876" y="0"/>
                  </a:cubicBezTo>
                  <a:cubicBezTo>
                    <a:pt x="27051" y="0"/>
                    <a:pt x="30099" y="635"/>
                    <a:pt x="33020" y="1778"/>
                  </a:cubicBezTo>
                  <a:cubicBezTo>
                    <a:pt x="35941" y="2921"/>
                    <a:pt x="38481" y="4699"/>
                    <a:pt x="40767" y="6985"/>
                  </a:cubicBezTo>
                  <a:cubicBezTo>
                    <a:pt x="43053" y="9271"/>
                    <a:pt x="44704" y="11811"/>
                    <a:pt x="45974" y="14732"/>
                  </a:cubicBezTo>
                  <a:cubicBezTo>
                    <a:pt x="47244" y="17653"/>
                    <a:pt x="47752" y="20701"/>
                    <a:pt x="47752" y="23876"/>
                  </a:cubicBezTo>
                </a:path>
              </a:pathLst>
            </a:custGeom>
            <a:solidFill>
              <a:srgbClr val="C9C2C0"/>
            </a:solidFill>
          </p:spPr>
          <p:txBody>
            <a:bodyPr/>
            <a:lstStyle/>
            <a:p>
              <a:endParaRPr lang="en-US"/>
            </a:p>
          </p:txBody>
        </p:sp>
      </p:grpSp>
      <p:grpSp>
        <p:nvGrpSpPr>
          <p:cNvPr id="6" name="Group 6"/>
          <p:cNvGrpSpPr>
            <a:grpSpLocks noChangeAspect="1"/>
          </p:cNvGrpSpPr>
          <p:nvPr/>
        </p:nvGrpSpPr>
        <p:grpSpPr>
          <a:xfrm>
            <a:off x="619125" y="2895600"/>
            <a:ext cx="47625" cy="47625"/>
            <a:chOff x="0" y="0"/>
            <a:chExt cx="47625" cy="47625"/>
          </a:xfrm>
        </p:grpSpPr>
        <p:sp>
          <p:nvSpPr>
            <p:cNvPr id="7" name="Freeform 7"/>
            <p:cNvSpPr/>
            <p:nvPr/>
          </p:nvSpPr>
          <p:spPr>
            <a:xfrm>
              <a:off x="0" y="0"/>
              <a:ext cx="47752" cy="47752"/>
            </a:xfrm>
            <a:custGeom>
              <a:avLst/>
              <a:gdLst/>
              <a:ahLst/>
              <a:cxnLst/>
              <a:rect l="l" t="t" r="r" b="b"/>
              <a:pathLst>
                <a:path w="47752" h="47752">
                  <a:moveTo>
                    <a:pt x="47625" y="23876"/>
                  </a:moveTo>
                  <a:cubicBezTo>
                    <a:pt x="47625" y="27051"/>
                    <a:pt x="46990" y="30099"/>
                    <a:pt x="45847" y="33020"/>
                  </a:cubicBezTo>
                  <a:cubicBezTo>
                    <a:pt x="44704" y="35941"/>
                    <a:pt x="42926" y="38481"/>
                    <a:pt x="40640" y="40767"/>
                  </a:cubicBezTo>
                  <a:cubicBezTo>
                    <a:pt x="38354" y="43053"/>
                    <a:pt x="35814" y="44704"/>
                    <a:pt x="32893" y="45974"/>
                  </a:cubicBezTo>
                  <a:cubicBezTo>
                    <a:pt x="29972" y="47244"/>
                    <a:pt x="26924" y="47752"/>
                    <a:pt x="23749" y="47752"/>
                  </a:cubicBezTo>
                  <a:cubicBezTo>
                    <a:pt x="20574" y="47752"/>
                    <a:pt x="17526" y="47117"/>
                    <a:pt x="14605" y="45974"/>
                  </a:cubicBezTo>
                  <a:cubicBezTo>
                    <a:pt x="11684" y="44831"/>
                    <a:pt x="9271" y="42926"/>
                    <a:pt x="6985" y="40640"/>
                  </a:cubicBezTo>
                  <a:cubicBezTo>
                    <a:pt x="4699" y="38354"/>
                    <a:pt x="3048" y="35814"/>
                    <a:pt x="1778" y="32893"/>
                  </a:cubicBezTo>
                  <a:cubicBezTo>
                    <a:pt x="508" y="29972"/>
                    <a:pt x="0" y="26924"/>
                    <a:pt x="0" y="23876"/>
                  </a:cubicBezTo>
                  <a:cubicBezTo>
                    <a:pt x="0" y="20828"/>
                    <a:pt x="635" y="17653"/>
                    <a:pt x="1778" y="14732"/>
                  </a:cubicBezTo>
                  <a:cubicBezTo>
                    <a:pt x="2921" y="11811"/>
                    <a:pt x="4699" y="9271"/>
                    <a:pt x="6985" y="6985"/>
                  </a:cubicBezTo>
                  <a:cubicBezTo>
                    <a:pt x="9271" y="4699"/>
                    <a:pt x="11811" y="3048"/>
                    <a:pt x="14732" y="1778"/>
                  </a:cubicBezTo>
                  <a:cubicBezTo>
                    <a:pt x="17653" y="508"/>
                    <a:pt x="20701" y="0"/>
                    <a:pt x="23876" y="0"/>
                  </a:cubicBezTo>
                  <a:cubicBezTo>
                    <a:pt x="27051" y="0"/>
                    <a:pt x="30099" y="635"/>
                    <a:pt x="33020" y="1778"/>
                  </a:cubicBezTo>
                  <a:cubicBezTo>
                    <a:pt x="35941" y="2921"/>
                    <a:pt x="38481" y="4699"/>
                    <a:pt x="40767" y="6985"/>
                  </a:cubicBezTo>
                  <a:cubicBezTo>
                    <a:pt x="43053" y="9271"/>
                    <a:pt x="44704" y="11811"/>
                    <a:pt x="45974" y="14732"/>
                  </a:cubicBezTo>
                  <a:cubicBezTo>
                    <a:pt x="47244" y="17653"/>
                    <a:pt x="47752" y="20701"/>
                    <a:pt x="47752" y="23876"/>
                  </a:cubicBezTo>
                </a:path>
              </a:pathLst>
            </a:custGeom>
            <a:solidFill>
              <a:srgbClr val="C9C2C0"/>
            </a:solidFill>
          </p:spPr>
          <p:txBody>
            <a:bodyPr/>
            <a:lstStyle/>
            <a:p>
              <a:endParaRPr lang="en-US"/>
            </a:p>
          </p:txBody>
        </p:sp>
      </p:grpSp>
      <p:grpSp>
        <p:nvGrpSpPr>
          <p:cNvPr id="8" name="Group 8"/>
          <p:cNvGrpSpPr>
            <a:grpSpLocks noChangeAspect="1"/>
          </p:cNvGrpSpPr>
          <p:nvPr/>
        </p:nvGrpSpPr>
        <p:grpSpPr>
          <a:xfrm>
            <a:off x="619125" y="3190875"/>
            <a:ext cx="47625" cy="47625"/>
            <a:chOff x="0" y="0"/>
            <a:chExt cx="47625" cy="47625"/>
          </a:xfrm>
        </p:grpSpPr>
        <p:sp>
          <p:nvSpPr>
            <p:cNvPr id="9" name="Freeform 9"/>
            <p:cNvSpPr/>
            <p:nvPr/>
          </p:nvSpPr>
          <p:spPr>
            <a:xfrm>
              <a:off x="0" y="0"/>
              <a:ext cx="47752" cy="47752"/>
            </a:xfrm>
            <a:custGeom>
              <a:avLst/>
              <a:gdLst/>
              <a:ahLst/>
              <a:cxnLst/>
              <a:rect l="l" t="t" r="r" b="b"/>
              <a:pathLst>
                <a:path w="47752" h="47752">
                  <a:moveTo>
                    <a:pt x="47625" y="23876"/>
                  </a:moveTo>
                  <a:cubicBezTo>
                    <a:pt x="47625" y="27051"/>
                    <a:pt x="46990" y="30099"/>
                    <a:pt x="45847" y="33020"/>
                  </a:cubicBezTo>
                  <a:cubicBezTo>
                    <a:pt x="44704" y="35941"/>
                    <a:pt x="42926" y="38481"/>
                    <a:pt x="40640" y="40767"/>
                  </a:cubicBezTo>
                  <a:cubicBezTo>
                    <a:pt x="38354" y="43053"/>
                    <a:pt x="35814" y="44704"/>
                    <a:pt x="32893" y="45974"/>
                  </a:cubicBezTo>
                  <a:cubicBezTo>
                    <a:pt x="29972" y="47244"/>
                    <a:pt x="26924" y="47752"/>
                    <a:pt x="23749" y="47752"/>
                  </a:cubicBezTo>
                  <a:cubicBezTo>
                    <a:pt x="20574" y="47752"/>
                    <a:pt x="17526" y="47117"/>
                    <a:pt x="14605" y="45974"/>
                  </a:cubicBezTo>
                  <a:cubicBezTo>
                    <a:pt x="11684" y="44831"/>
                    <a:pt x="9271" y="42926"/>
                    <a:pt x="6985" y="40640"/>
                  </a:cubicBezTo>
                  <a:cubicBezTo>
                    <a:pt x="4699" y="38354"/>
                    <a:pt x="3048" y="35814"/>
                    <a:pt x="1778" y="32893"/>
                  </a:cubicBezTo>
                  <a:cubicBezTo>
                    <a:pt x="508" y="29972"/>
                    <a:pt x="0" y="26924"/>
                    <a:pt x="0" y="23876"/>
                  </a:cubicBezTo>
                  <a:cubicBezTo>
                    <a:pt x="0" y="20828"/>
                    <a:pt x="635" y="17653"/>
                    <a:pt x="1778" y="14732"/>
                  </a:cubicBezTo>
                  <a:cubicBezTo>
                    <a:pt x="2921" y="11811"/>
                    <a:pt x="4699" y="9144"/>
                    <a:pt x="6985" y="6985"/>
                  </a:cubicBezTo>
                  <a:cubicBezTo>
                    <a:pt x="9271" y="4826"/>
                    <a:pt x="11811" y="3048"/>
                    <a:pt x="14732" y="1778"/>
                  </a:cubicBezTo>
                  <a:cubicBezTo>
                    <a:pt x="17653" y="508"/>
                    <a:pt x="20701" y="0"/>
                    <a:pt x="23876" y="0"/>
                  </a:cubicBezTo>
                  <a:cubicBezTo>
                    <a:pt x="27051" y="0"/>
                    <a:pt x="30099" y="635"/>
                    <a:pt x="33020" y="1778"/>
                  </a:cubicBezTo>
                  <a:cubicBezTo>
                    <a:pt x="35941" y="2921"/>
                    <a:pt x="38481" y="4699"/>
                    <a:pt x="40767" y="6985"/>
                  </a:cubicBezTo>
                  <a:cubicBezTo>
                    <a:pt x="43053" y="9271"/>
                    <a:pt x="44704" y="11811"/>
                    <a:pt x="45974" y="14732"/>
                  </a:cubicBezTo>
                  <a:cubicBezTo>
                    <a:pt x="47244" y="17653"/>
                    <a:pt x="47752" y="20701"/>
                    <a:pt x="47752" y="23876"/>
                  </a:cubicBezTo>
                </a:path>
              </a:pathLst>
            </a:custGeom>
            <a:solidFill>
              <a:srgbClr val="C9C2C0"/>
            </a:solidFill>
          </p:spPr>
          <p:txBody>
            <a:bodyPr/>
            <a:lstStyle/>
            <a:p>
              <a:endParaRPr lang="en-US"/>
            </a:p>
          </p:txBody>
        </p:sp>
      </p:grpSp>
      <p:grpSp>
        <p:nvGrpSpPr>
          <p:cNvPr id="10" name="Group 10"/>
          <p:cNvGrpSpPr>
            <a:grpSpLocks noChangeAspect="1"/>
          </p:cNvGrpSpPr>
          <p:nvPr/>
        </p:nvGrpSpPr>
        <p:grpSpPr>
          <a:xfrm>
            <a:off x="536572" y="3860797"/>
            <a:ext cx="10356847" cy="727072"/>
            <a:chOff x="0" y="0"/>
            <a:chExt cx="10356850" cy="727075"/>
          </a:xfrm>
        </p:grpSpPr>
        <p:sp>
          <p:nvSpPr>
            <p:cNvPr id="11" name="Freeform 11"/>
            <p:cNvSpPr/>
            <p:nvPr/>
          </p:nvSpPr>
          <p:spPr>
            <a:xfrm>
              <a:off x="63500" y="63500"/>
              <a:ext cx="3409950" cy="600075"/>
            </a:xfrm>
            <a:custGeom>
              <a:avLst/>
              <a:gdLst/>
              <a:ahLst/>
              <a:cxnLst/>
              <a:rect l="l" t="t" r="r" b="b"/>
              <a:pathLst>
                <a:path w="3409950" h="600075">
                  <a:moveTo>
                    <a:pt x="3259963" y="0"/>
                  </a:moveTo>
                  <a:lnTo>
                    <a:pt x="3409950" y="299974"/>
                  </a:lnTo>
                  <a:lnTo>
                    <a:pt x="3259963" y="600075"/>
                  </a:lnTo>
                  <a:lnTo>
                    <a:pt x="0" y="600075"/>
                  </a:lnTo>
                  <a:lnTo>
                    <a:pt x="149987" y="299974"/>
                  </a:lnTo>
                  <a:lnTo>
                    <a:pt x="0" y="0"/>
                  </a:lnTo>
                  <a:lnTo>
                    <a:pt x="3259963" y="0"/>
                  </a:lnTo>
                </a:path>
              </a:pathLst>
            </a:custGeom>
            <a:solidFill>
              <a:srgbClr val="373433"/>
            </a:solidFill>
          </p:spPr>
          <p:txBody>
            <a:bodyPr/>
            <a:lstStyle/>
            <a:p>
              <a:endParaRPr lang="en-US"/>
            </a:p>
          </p:txBody>
        </p:sp>
        <p:sp>
          <p:nvSpPr>
            <p:cNvPr id="12" name="Freeform 12"/>
            <p:cNvSpPr/>
            <p:nvPr/>
          </p:nvSpPr>
          <p:spPr>
            <a:xfrm>
              <a:off x="1654175" y="254127"/>
              <a:ext cx="224790" cy="224917"/>
            </a:xfrm>
            <a:custGeom>
              <a:avLst/>
              <a:gdLst/>
              <a:ahLst/>
              <a:cxnLst/>
              <a:rect l="l" t="t" r="r" b="b"/>
              <a:pathLst>
                <a:path w="224790" h="224917">
                  <a:moveTo>
                    <a:pt x="210947" y="112395"/>
                  </a:moveTo>
                  <a:cubicBezTo>
                    <a:pt x="210947" y="118872"/>
                    <a:pt x="210312" y="125222"/>
                    <a:pt x="209042" y="131572"/>
                  </a:cubicBezTo>
                  <a:cubicBezTo>
                    <a:pt x="207772" y="137922"/>
                    <a:pt x="205867" y="144018"/>
                    <a:pt x="203454" y="149987"/>
                  </a:cubicBezTo>
                  <a:cubicBezTo>
                    <a:pt x="201041" y="155956"/>
                    <a:pt x="197993" y="161671"/>
                    <a:pt x="194310" y="167005"/>
                  </a:cubicBezTo>
                  <a:cubicBezTo>
                    <a:pt x="190627" y="172339"/>
                    <a:pt x="186690" y="177419"/>
                    <a:pt x="182118" y="181991"/>
                  </a:cubicBezTo>
                  <a:cubicBezTo>
                    <a:pt x="177546" y="186563"/>
                    <a:pt x="172593" y="190627"/>
                    <a:pt x="167132" y="194183"/>
                  </a:cubicBezTo>
                  <a:cubicBezTo>
                    <a:pt x="161671" y="197739"/>
                    <a:pt x="156083" y="200787"/>
                    <a:pt x="150114" y="203327"/>
                  </a:cubicBezTo>
                  <a:cubicBezTo>
                    <a:pt x="144145" y="205867"/>
                    <a:pt x="137922" y="207645"/>
                    <a:pt x="131699" y="208915"/>
                  </a:cubicBezTo>
                  <a:cubicBezTo>
                    <a:pt x="125476" y="210185"/>
                    <a:pt x="118999" y="210820"/>
                    <a:pt x="112522" y="210820"/>
                  </a:cubicBezTo>
                  <a:cubicBezTo>
                    <a:pt x="106045" y="210820"/>
                    <a:pt x="99695" y="210185"/>
                    <a:pt x="93345" y="208915"/>
                  </a:cubicBezTo>
                  <a:cubicBezTo>
                    <a:pt x="86995" y="207645"/>
                    <a:pt x="80899" y="205740"/>
                    <a:pt x="74930" y="203327"/>
                  </a:cubicBezTo>
                  <a:cubicBezTo>
                    <a:pt x="68961" y="200914"/>
                    <a:pt x="63246" y="197866"/>
                    <a:pt x="57912" y="194183"/>
                  </a:cubicBezTo>
                  <a:cubicBezTo>
                    <a:pt x="52578" y="190500"/>
                    <a:pt x="47498" y="186563"/>
                    <a:pt x="42926" y="181991"/>
                  </a:cubicBezTo>
                  <a:cubicBezTo>
                    <a:pt x="38355" y="177419"/>
                    <a:pt x="34291" y="172466"/>
                    <a:pt x="30734" y="167005"/>
                  </a:cubicBezTo>
                  <a:cubicBezTo>
                    <a:pt x="27178" y="161544"/>
                    <a:pt x="24130" y="155956"/>
                    <a:pt x="21590" y="149987"/>
                  </a:cubicBezTo>
                  <a:cubicBezTo>
                    <a:pt x="19050" y="144018"/>
                    <a:pt x="17272" y="137795"/>
                    <a:pt x="16002" y="131572"/>
                  </a:cubicBezTo>
                  <a:cubicBezTo>
                    <a:pt x="14732" y="125349"/>
                    <a:pt x="14097" y="118872"/>
                    <a:pt x="14097" y="112395"/>
                  </a:cubicBezTo>
                  <a:cubicBezTo>
                    <a:pt x="14097" y="105918"/>
                    <a:pt x="14732" y="99568"/>
                    <a:pt x="16002" y="93218"/>
                  </a:cubicBezTo>
                  <a:cubicBezTo>
                    <a:pt x="17272" y="86868"/>
                    <a:pt x="19177" y="80772"/>
                    <a:pt x="21590" y="74803"/>
                  </a:cubicBezTo>
                  <a:cubicBezTo>
                    <a:pt x="24003" y="68834"/>
                    <a:pt x="27051" y="63119"/>
                    <a:pt x="30734" y="57785"/>
                  </a:cubicBezTo>
                  <a:cubicBezTo>
                    <a:pt x="34417" y="52451"/>
                    <a:pt x="38354" y="47498"/>
                    <a:pt x="42926" y="42926"/>
                  </a:cubicBezTo>
                  <a:cubicBezTo>
                    <a:pt x="47498" y="38354"/>
                    <a:pt x="52451" y="34290"/>
                    <a:pt x="57912" y="30734"/>
                  </a:cubicBezTo>
                  <a:cubicBezTo>
                    <a:pt x="63373" y="27178"/>
                    <a:pt x="68961" y="24130"/>
                    <a:pt x="74930" y="21590"/>
                  </a:cubicBezTo>
                  <a:cubicBezTo>
                    <a:pt x="80899" y="19050"/>
                    <a:pt x="87122" y="17272"/>
                    <a:pt x="93345" y="16002"/>
                  </a:cubicBezTo>
                  <a:cubicBezTo>
                    <a:pt x="99568" y="14732"/>
                    <a:pt x="106045" y="14097"/>
                    <a:pt x="112522" y="14097"/>
                  </a:cubicBezTo>
                  <a:cubicBezTo>
                    <a:pt x="118999" y="14097"/>
                    <a:pt x="125349" y="14732"/>
                    <a:pt x="131699" y="16002"/>
                  </a:cubicBezTo>
                  <a:cubicBezTo>
                    <a:pt x="138049" y="17272"/>
                    <a:pt x="144145" y="19177"/>
                    <a:pt x="150114" y="21590"/>
                  </a:cubicBezTo>
                  <a:cubicBezTo>
                    <a:pt x="156083" y="24003"/>
                    <a:pt x="161798" y="27051"/>
                    <a:pt x="167132" y="30734"/>
                  </a:cubicBezTo>
                  <a:cubicBezTo>
                    <a:pt x="172466" y="34417"/>
                    <a:pt x="177546" y="38354"/>
                    <a:pt x="182118" y="42926"/>
                  </a:cubicBezTo>
                  <a:cubicBezTo>
                    <a:pt x="186690" y="47498"/>
                    <a:pt x="190754" y="52451"/>
                    <a:pt x="194310" y="57785"/>
                  </a:cubicBezTo>
                  <a:cubicBezTo>
                    <a:pt x="197866" y="63119"/>
                    <a:pt x="200914" y="68834"/>
                    <a:pt x="203454" y="74803"/>
                  </a:cubicBezTo>
                  <a:cubicBezTo>
                    <a:pt x="205994" y="80772"/>
                    <a:pt x="207772" y="86995"/>
                    <a:pt x="209042" y="93218"/>
                  </a:cubicBezTo>
                  <a:cubicBezTo>
                    <a:pt x="210312" y="99441"/>
                    <a:pt x="210947" y="105918"/>
                    <a:pt x="210947" y="112395"/>
                  </a:cubicBezTo>
                  <a:close/>
                  <a:moveTo>
                    <a:pt x="0" y="112395"/>
                  </a:moveTo>
                  <a:cubicBezTo>
                    <a:pt x="0" y="119761"/>
                    <a:pt x="762" y="127127"/>
                    <a:pt x="2159" y="134366"/>
                  </a:cubicBezTo>
                  <a:cubicBezTo>
                    <a:pt x="3556" y="141605"/>
                    <a:pt x="5715" y="148590"/>
                    <a:pt x="8509" y="155448"/>
                  </a:cubicBezTo>
                  <a:cubicBezTo>
                    <a:pt x="11303" y="162306"/>
                    <a:pt x="14859" y="168783"/>
                    <a:pt x="18923" y="174879"/>
                  </a:cubicBezTo>
                  <a:cubicBezTo>
                    <a:pt x="22987" y="180975"/>
                    <a:pt x="27686" y="186690"/>
                    <a:pt x="32893" y="191897"/>
                  </a:cubicBezTo>
                  <a:cubicBezTo>
                    <a:pt x="38100" y="197104"/>
                    <a:pt x="43815" y="201803"/>
                    <a:pt x="49911" y="205867"/>
                  </a:cubicBezTo>
                  <a:cubicBezTo>
                    <a:pt x="56007" y="209931"/>
                    <a:pt x="62484" y="213487"/>
                    <a:pt x="69342" y="216281"/>
                  </a:cubicBezTo>
                  <a:cubicBezTo>
                    <a:pt x="76200" y="219075"/>
                    <a:pt x="83185" y="221234"/>
                    <a:pt x="90424" y="222758"/>
                  </a:cubicBezTo>
                  <a:cubicBezTo>
                    <a:pt x="97663" y="224282"/>
                    <a:pt x="105029" y="224917"/>
                    <a:pt x="112395" y="224917"/>
                  </a:cubicBezTo>
                  <a:cubicBezTo>
                    <a:pt x="119761" y="224917"/>
                    <a:pt x="127127" y="224155"/>
                    <a:pt x="134366" y="222758"/>
                  </a:cubicBezTo>
                  <a:cubicBezTo>
                    <a:pt x="141605" y="221361"/>
                    <a:pt x="148590" y="219202"/>
                    <a:pt x="155448" y="216281"/>
                  </a:cubicBezTo>
                  <a:cubicBezTo>
                    <a:pt x="162306" y="213360"/>
                    <a:pt x="168783" y="210058"/>
                    <a:pt x="174879" y="205867"/>
                  </a:cubicBezTo>
                  <a:cubicBezTo>
                    <a:pt x="180975" y="201676"/>
                    <a:pt x="186690" y="197104"/>
                    <a:pt x="191897" y="191897"/>
                  </a:cubicBezTo>
                  <a:cubicBezTo>
                    <a:pt x="197104" y="186690"/>
                    <a:pt x="201803" y="180975"/>
                    <a:pt x="205867" y="174879"/>
                  </a:cubicBezTo>
                  <a:cubicBezTo>
                    <a:pt x="209931" y="168783"/>
                    <a:pt x="213487" y="162306"/>
                    <a:pt x="216281" y="155448"/>
                  </a:cubicBezTo>
                  <a:cubicBezTo>
                    <a:pt x="219075" y="148590"/>
                    <a:pt x="221234" y="141605"/>
                    <a:pt x="222631" y="134366"/>
                  </a:cubicBezTo>
                  <a:cubicBezTo>
                    <a:pt x="224028" y="127127"/>
                    <a:pt x="224790" y="119761"/>
                    <a:pt x="224790" y="112395"/>
                  </a:cubicBezTo>
                  <a:cubicBezTo>
                    <a:pt x="224790" y="105029"/>
                    <a:pt x="224028" y="97663"/>
                    <a:pt x="222631" y="90424"/>
                  </a:cubicBezTo>
                  <a:cubicBezTo>
                    <a:pt x="221234" y="83185"/>
                    <a:pt x="219075" y="76200"/>
                    <a:pt x="216281" y="69342"/>
                  </a:cubicBezTo>
                  <a:cubicBezTo>
                    <a:pt x="213487" y="62484"/>
                    <a:pt x="209931" y="56007"/>
                    <a:pt x="205867" y="49911"/>
                  </a:cubicBezTo>
                  <a:cubicBezTo>
                    <a:pt x="201803" y="43815"/>
                    <a:pt x="197104" y="38100"/>
                    <a:pt x="191897" y="32893"/>
                  </a:cubicBezTo>
                  <a:cubicBezTo>
                    <a:pt x="186690" y="27686"/>
                    <a:pt x="180975" y="22987"/>
                    <a:pt x="174879" y="18923"/>
                  </a:cubicBezTo>
                  <a:cubicBezTo>
                    <a:pt x="168783" y="14859"/>
                    <a:pt x="162306" y="11303"/>
                    <a:pt x="155448" y="8509"/>
                  </a:cubicBezTo>
                  <a:cubicBezTo>
                    <a:pt x="148590" y="5715"/>
                    <a:pt x="141605" y="3556"/>
                    <a:pt x="134366" y="2159"/>
                  </a:cubicBezTo>
                  <a:cubicBezTo>
                    <a:pt x="127127" y="762"/>
                    <a:pt x="119761" y="0"/>
                    <a:pt x="112395" y="0"/>
                  </a:cubicBezTo>
                  <a:cubicBezTo>
                    <a:pt x="105029" y="0"/>
                    <a:pt x="97663" y="762"/>
                    <a:pt x="90424" y="2159"/>
                  </a:cubicBezTo>
                  <a:cubicBezTo>
                    <a:pt x="83185" y="3556"/>
                    <a:pt x="76200" y="5715"/>
                    <a:pt x="69342" y="8509"/>
                  </a:cubicBezTo>
                  <a:cubicBezTo>
                    <a:pt x="62484" y="11303"/>
                    <a:pt x="56007" y="14859"/>
                    <a:pt x="49911" y="18923"/>
                  </a:cubicBezTo>
                  <a:cubicBezTo>
                    <a:pt x="43815" y="22987"/>
                    <a:pt x="38100" y="27686"/>
                    <a:pt x="32893" y="32893"/>
                  </a:cubicBezTo>
                  <a:cubicBezTo>
                    <a:pt x="27686" y="38100"/>
                    <a:pt x="22987" y="43815"/>
                    <a:pt x="18923" y="49911"/>
                  </a:cubicBezTo>
                  <a:cubicBezTo>
                    <a:pt x="14859" y="56007"/>
                    <a:pt x="11303" y="62484"/>
                    <a:pt x="8509" y="69342"/>
                  </a:cubicBezTo>
                  <a:cubicBezTo>
                    <a:pt x="5715" y="76200"/>
                    <a:pt x="3556" y="83185"/>
                    <a:pt x="2159" y="90424"/>
                  </a:cubicBezTo>
                  <a:cubicBezTo>
                    <a:pt x="762" y="97663"/>
                    <a:pt x="0" y="105029"/>
                    <a:pt x="0" y="112395"/>
                  </a:cubicBezTo>
                  <a:close/>
                  <a:moveTo>
                    <a:pt x="105537" y="49149"/>
                  </a:moveTo>
                  <a:lnTo>
                    <a:pt x="105537" y="112395"/>
                  </a:lnTo>
                  <a:cubicBezTo>
                    <a:pt x="105537" y="114681"/>
                    <a:pt x="106680" y="116967"/>
                    <a:pt x="108712" y="118237"/>
                  </a:cubicBezTo>
                  <a:lnTo>
                    <a:pt x="150876" y="146304"/>
                  </a:lnTo>
                  <a:cubicBezTo>
                    <a:pt x="154178" y="148463"/>
                    <a:pt x="158496" y="147574"/>
                    <a:pt x="160655" y="144399"/>
                  </a:cubicBezTo>
                  <a:cubicBezTo>
                    <a:pt x="162814" y="141224"/>
                    <a:pt x="161925" y="136779"/>
                    <a:pt x="158750" y="134620"/>
                  </a:cubicBezTo>
                  <a:lnTo>
                    <a:pt x="119634" y="108585"/>
                  </a:lnTo>
                  <a:lnTo>
                    <a:pt x="119634" y="49149"/>
                  </a:lnTo>
                  <a:cubicBezTo>
                    <a:pt x="119634" y="45339"/>
                    <a:pt x="116459" y="42164"/>
                    <a:pt x="112649" y="42164"/>
                  </a:cubicBezTo>
                  <a:cubicBezTo>
                    <a:pt x="108839" y="42164"/>
                    <a:pt x="105664" y="45339"/>
                    <a:pt x="105664" y="49149"/>
                  </a:cubicBezTo>
                </a:path>
              </a:pathLst>
            </a:custGeom>
            <a:solidFill>
              <a:srgbClr val="C9C2C0"/>
            </a:solidFill>
          </p:spPr>
          <p:txBody>
            <a:bodyPr/>
            <a:lstStyle/>
            <a:p>
              <a:endParaRPr lang="en-US"/>
            </a:p>
          </p:txBody>
        </p:sp>
        <p:sp>
          <p:nvSpPr>
            <p:cNvPr id="13" name="Freeform 13"/>
            <p:cNvSpPr/>
            <p:nvPr/>
          </p:nvSpPr>
          <p:spPr>
            <a:xfrm>
              <a:off x="3473450" y="63500"/>
              <a:ext cx="3409950" cy="600075"/>
            </a:xfrm>
            <a:custGeom>
              <a:avLst/>
              <a:gdLst/>
              <a:ahLst/>
              <a:cxnLst/>
              <a:rect l="l" t="t" r="r" b="b"/>
              <a:pathLst>
                <a:path w="3409950" h="600075">
                  <a:moveTo>
                    <a:pt x="3259963" y="0"/>
                  </a:moveTo>
                  <a:lnTo>
                    <a:pt x="3409950" y="299974"/>
                  </a:lnTo>
                  <a:lnTo>
                    <a:pt x="3259963" y="600075"/>
                  </a:lnTo>
                  <a:lnTo>
                    <a:pt x="0" y="600075"/>
                  </a:lnTo>
                  <a:lnTo>
                    <a:pt x="149987" y="300101"/>
                  </a:lnTo>
                  <a:lnTo>
                    <a:pt x="0" y="0"/>
                  </a:lnTo>
                  <a:lnTo>
                    <a:pt x="3259963" y="0"/>
                  </a:lnTo>
                </a:path>
              </a:pathLst>
            </a:custGeom>
            <a:solidFill>
              <a:srgbClr val="373433"/>
            </a:solidFill>
          </p:spPr>
          <p:txBody>
            <a:bodyPr/>
            <a:lstStyle/>
            <a:p>
              <a:endParaRPr lang="en-US"/>
            </a:p>
          </p:txBody>
        </p:sp>
        <p:sp>
          <p:nvSpPr>
            <p:cNvPr id="14" name="Freeform 14"/>
            <p:cNvSpPr/>
            <p:nvPr/>
          </p:nvSpPr>
          <p:spPr>
            <a:xfrm>
              <a:off x="5064253" y="276479"/>
              <a:ext cx="224916" cy="179959"/>
            </a:xfrm>
            <a:custGeom>
              <a:avLst/>
              <a:gdLst/>
              <a:ahLst/>
              <a:cxnLst/>
              <a:rect l="l" t="t" r="r" b="b"/>
              <a:pathLst>
                <a:path w="224916" h="179959">
                  <a:moveTo>
                    <a:pt x="56133" y="22479"/>
                  </a:moveTo>
                  <a:cubicBezTo>
                    <a:pt x="56133" y="10033"/>
                    <a:pt x="66166" y="0"/>
                    <a:pt x="78612" y="0"/>
                  </a:cubicBezTo>
                  <a:lnTo>
                    <a:pt x="146176" y="0"/>
                  </a:lnTo>
                  <a:cubicBezTo>
                    <a:pt x="158622" y="0"/>
                    <a:pt x="168655" y="10033"/>
                    <a:pt x="168655" y="22479"/>
                  </a:cubicBezTo>
                  <a:lnTo>
                    <a:pt x="168655" y="33782"/>
                  </a:lnTo>
                  <a:lnTo>
                    <a:pt x="202437" y="33782"/>
                  </a:lnTo>
                  <a:cubicBezTo>
                    <a:pt x="214883" y="33782"/>
                    <a:pt x="224916" y="43815"/>
                    <a:pt x="224916" y="56261"/>
                  </a:cubicBezTo>
                  <a:lnTo>
                    <a:pt x="224916" y="157480"/>
                  </a:lnTo>
                  <a:cubicBezTo>
                    <a:pt x="224916" y="169926"/>
                    <a:pt x="214883" y="179959"/>
                    <a:pt x="202437" y="179959"/>
                  </a:cubicBezTo>
                  <a:lnTo>
                    <a:pt x="146176" y="179959"/>
                  </a:lnTo>
                  <a:lnTo>
                    <a:pt x="123697" y="179959"/>
                  </a:lnTo>
                  <a:lnTo>
                    <a:pt x="101218" y="179959"/>
                  </a:lnTo>
                  <a:lnTo>
                    <a:pt x="78739" y="179959"/>
                  </a:lnTo>
                  <a:lnTo>
                    <a:pt x="22478" y="179959"/>
                  </a:lnTo>
                  <a:cubicBezTo>
                    <a:pt x="10032" y="179959"/>
                    <a:pt x="0" y="169926"/>
                    <a:pt x="0" y="157480"/>
                  </a:cubicBezTo>
                  <a:lnTo>
                    <a:pt x="0" y="56261"/>
                  </a:lnTo>
                  <a:cubicBezTo>
                    <a:pt x="0" y="43815"/>
                    <a:pt x="10159" y="33782"/>
                    <a:pt x="22478" y="33782"/>
                  </a:cubicBezTo>
                  <a:lnTo>
                    <a:pt x="56260" y="33782"/>
                  </a:lnTo>
                  <a:lnTo>
                    <a:pt x="56260" y="22479"/>
                  </a:lnTo>
                  <a:close/>
                  <a:moveTo>
                    <a:pt x="168655" y="118110"/>
                  </a:moveTo>
                  <a:lnTo>
                    <a:pt x="168655" y="168783"/>
                  </a:lnTo>
                  <a:lnTo>
                    <a:pt x="202437" y="168783"/>
                  </a:lnTo>
                  <a:cubicBezTo>
                    <a:pt x="208660" y="168783"/>
                    <a:pt x="213740" y="163703"/>
                    <a:pt x="213740" y="157480"/>
                  </a:cubicBezTo>
                  <a:lnTo>
                    <a:pt x="213740" y="112522"/>
                  </a:lnTo>
                  <a:lnTo>
                    <a:pt x="185673" y="112522"/>
                  </a:lnTo>
                  <a:cubicBezTo>
                    <a:pt x="182625" y="112522"/>
                    <a:pt x="180085" y="109982"/>
                    <a:pt x="180085" y="106934"/>
                  </a:cubicBezTo>
                  <a:cubicBezTo>
                    <a:pt x="180085" y="103886"/>
                    <a:pt x="182625" y="101346"/>
                    <a:pt x="185673" y="101346"/>
                  </a:cubicBezTo>
                  <a:lnTo>
                    <a:pt x="213740" y="101346"/>
                  </a:lnTo>
                  <a:lnTo>
                    <a:pt x="213740" y="78740"/>
                  </a:lnTo>
                  <a:lnTo>
                    <a:pt x="185673" y="78740"/>
                  </a:lnTo>
                  <a:cubicBezTo>
                    <a:pt x="182625" y="78740"/>
                    <a:pt x="180085" y="76200"/>
                    <a:pt x="180085" y="73152"/>
                  </a:cubicBezTo>
                  <a:cubicBezTo>
                    <a:pt x="180085" y="70104"/>
                    <a:pt x="182625" y="67564"/>
                    <a:pt x="185673" y="67564"/>
                  </a:cubicBezTo>
                  <a:lnTo>
                    <a:pt x="213740" y="67564"/>
                  </a:lnTo>
                  <a:lnTo>
                    <a:pt x="213740" y="56261"/>
                  </a:lnTo>
                  <a:cubicBezTo>
                    <a:pt x="213740" y="50038"/>
                    <a:pt x="208660" y="44958"/>
                    <a:pt x="202437" y="44958"/>
                  </a:cubicBezTo>
                  <a:lnTo>
                    <a:pt x="168655" y="44958"/>
                  </a:lnTo>
                  <a:lnTo>
                    <a:pt x="168655" y="118110"/>
                  </a:lnTo>
                  <a:close/>
                  <a:moveTo>
                    <a:pt x="56133" y="44958"/>
                  </a:moveTo>
                  <a:lnTo>
                    <a:pt x="22351" y="44958"/>
                  </a:lnTo>
                  <a:cubicBezTo>
                    <a:pt x="16128" y="44958"/>
                    <a:pt x="11048" y="50038"/>
                    <a:pt x="11048" y="56261"/>
                  </a:cubicBezTo>
                  <a:lnTo>
                    <a:pt x="11048" y="67564"/>
                  </a:lnTo>
                  <a:lnTo>
                    <a:pt x="39115" y="67564"/>
                  </a:lnTo>
                  <a:cubicBezTo>
                    <a:pt x="42162" y="67564"/>
                    <a:pt x="44703" y="70104"/>
                    <a:pt x="44703" y="73152"/>
                  </a:cubicBezTo>
                  <a:cubicBezTo>
                    <a:pt x="44703" y="76200"/>
                    <a:pt x="42162" y="78740"/>
                    <a:pt x="39115" y="78740"/>
                  </a:cubicBezTo>
                  <a:lnTo>
                    <a:pt x="11048" y="78740"/>
                  </a:lnTo>
                  <a:lnTo>
                    <a:pt x="11048" y="101219"/>
                  </a:lnTo>
                  <a:lnTo>
                    <a:pt x="39115" y="101219"/>
                  </a:lnTo>
                  <a:cubicBezTo>
                    <a:pt x="42162" y="101219"/>
                    <a:pt x="44703" y="103759"/>
                    <a:pt x="44703" y="106807"/>
                  </a:cubicBezTo>
                  <a:cubicBezTo>
                    <a:pt x="44703" y="109855"/>
                    <a:pt x="42162" y="112395"/>
                    <a:pt x="39115" y="112395"/>
                  </a:cubicBezTo>
                  <a:lnTo>
                    <a:pt x="11048" y="112395"/>
                  </a:lnTo>
                  <a:lnTo>
                    <a:pt x="11048" y="157353"/>
                  </a:lnTo>
                  <a:cubicBezTo>
                    <a:pt x="11048" y="163576"/>
                    <a:pt x="16128" y="168656"/>
                    <a:pt x="22351" y="168656"/>
                  </a:cubicBezTo>
                  <a:lnTo>
                    <a:pt x="56133" y="168656"/>
                  </a:lnTo>
                  <a:lnTo>
                    <a:pt x="56133" y="45085"/>
                  </a:lnTo>
                  <a:close/>
                  <a:moveTo>
                    <a:pt x="157352" y="118110"/>
                  </a:moveTo>
                  <a:lnTo>
                    <a:pt x="157352" y="22479"/>
                  </a:lnTo>
                  <a:cubicBezTo>
                    <a:pt x="157352" y="16256"/>
                    <a:pt x="152272" y="11176"/>
                    <a:pt x="146049" y="11176"/>
                  </a:cubicBezTo>
                  <a:lnTo>
                    <a:pt x="78485" y="11176"/>
                  </a:lnTo>
                  <a:cubicBezTo>
                    <a:pt x="72262" y="11176"/>
                    <a:pt x="67181" y="16256"/>
                    <a:pt x="67181" y="22479"/>
                  </a:cubicBezTo>
                  <a:lnTo>
                    <a:pt x="67181" y="168783"/>
                  </a:lnTo>
                  <a:lnTo>
                    <a:pt x="89660" y="168783"/>
                  </a:lnTo>
                  <a:lnTo>
                    <a:pt x="89660" y="146304"/>
                  </a:lnTo>
                  <a:cubicBezTo>
                    <a:pt x="89660" y="133858"/>
                    <a:pt x="99693" y="123825"/>
                    <a:pt x="112139" y="123825"/>
                  </a:cubicBezTo>
                  <a:cubicBezTo>
                    <a:pt x="124585" y="123825"/>
                    <a:pt x="134618" y="133985"/>
                    <a:pt x="134618" y="146304"/>
                  </a:cubicBezTo>
                  <a:lnTo>
                    <a:pt x="134618" y="168783"/>
                  </a:lnTo>
                  <a:lnTo>
                    <a:pt x="157097" y="168783"/>
                  </a:lnTo>
                  <a:lnTo>
                    <a:pt x="157097" y="118110"/>
                  </a:lnTo>
                  <a:close/>
                  <a:moveTo>
                    <a:pt x="123570" y="146177"/>
                  </a:moveTo>
                  <a:cubicBezTo>
                    <a:pt x="123570" y="139954"/>
                    <a:pt x="118490" y="134874"/>
                    <a:pt x="112267" y="134874"/>
                  </a:cubicBezTo>
                  <a:cubicBezTo>
                    <a:pt x="106043" y="134874"/>
                    <a:pt x="100964" y="139954"/>
                    <a:pt x="100964" y="146177"/>
                  </a:cubicBezTo>
                  <a:lnTo>
                    <a:pt x="100964" y="168656"/>
                  </a:lnTo>
                  <a:lnTo>
                    <a:pt x="123442" y="168656"/>
                  </a:lnTo>
                  <a:lnTo>
                    <a:pt x="123442" y="146304"/>
                  </a:lnTo>
                  <a:close/>
                  <a:moveTo>
                    <a:pt x="106679" y="22479"/>
                  </a:moveTo>
                  <a:lnTo>
                    <a:pt x="117982" y="22479"/>
                  </a:lnTo>
                  <a:cubicBezTo>
                    <a:pt x="122681" y="22479"/>
                    <a:pt x="126491" y="26289"/>
                    <a:pt x="126491" y="30861"/>
                  </a:cubicBezTo>
                  <a:lnTo>
                    <a:pt x="126491" y="36449"/>
                  </a:lnTo>
                  <a:lnTo>
                    <a:pt x="132079" y="36449"/>
                  </a:lnTo>
                  <a:cubicBezTo>
                    <a:pt x="136778" y="36449"/>
                    <a:pt x="140461" y="40259"/>
                    <a:pt x="140461" y="44831"/>
                  </a:cubicBezTo>
                  <a:lnTo>
                    <a:pt x="140461" y="56134"/>
                  </a:lnTo>
                  <a:cubicBezTo>
                    <a:pt x="140461" y="60833"/>
                    <a:pt x="136652" y="64516"/>
                    <a:pt x="132079" y="64516"/>
                  </a:cubicBezTo>
                  <a:lnTo>
                    <a:pt x="126491" y="64516"/>
                  </a:lnTo>
                  <a:lnTo>
                    <a:pt x="126491" y="70104"/>
                  </a:lnTo>
                  <a:cubicBezTo>
                    <a:pt x="126491" y="74803"/>
                    <a:pt x="122682" y="78613"/>
                    <a:pt x="117982" y="78613"/>
                  </a:cubicBezTo>
                  <a:lnTo>
                    <a:pt x="106679" y="78613"/>
                  </a:lnTo>
                  <a:cubicBezTo>
                    <a:pt x="101980" y="78613"/>
                    <a:pt x="98297" y="74803"/>
                    <a:pt x="98297" y="70104"/>
                  </a:cubicBezTo>
                  <a:lnTo>
                    <a:pt x="98297" y="64516"/>
                  </a:lnTo>
                  <a:lnTo>
                    <a:pt x="92709" y="64516"/>
                  </a:lnTo>
                  <a:cubicBezTo>
                    <a:pt x="88010" y="64516"/>
                    <a:pt x="84327" y="60706"/>
                    <a:pt x="84327" y="56134"/>
                  </a:cubicBezTo>
                  <a:lnTo>
                    <a:pt x="84327" y="44831"/>
                  </a:lnTo>
                  <a:cubicBezTo>
                    <a:pt x="84327" y="40132"/>
                    <a:pt x="88137" y="36449"/>
                    <a:pt x="92709" y="36449"/>
                  </a:cubicBezTo>
                  <a:lnTo>
                    <a:pt x="98297" y="36449"/>
                  </a:lnTo>
                  <a:lnTo>
                    <a:pt x="98297" y="30861"/>
                  </a:lnTo>
                  <a:cubicBezTo>
                    <a:pt x="98297" y="26162"/>
                    <a:pt x="102107" y="22479"/>
                    <a:pt x="106679" y="22479"/>
                  </a:cubicBezTo>
                  <a:close/>
                  <a:moveTo>
                    <a:pt x="109473" y="42164"/>
                  </a:moveTo>
                  <a:cubicBezTo>
                    <a:pt x="109473" y="45212"/>
                    <a:pt x="106933" y="47752"/>
                    <a:pt x="103885" y="47752"/>
                  </a:cubicBezTo>
                  <a:lnTo>
                    <a:pt x="95376" y="47752"/>
                  </a:lnTo>
                  <a:lnTo>
                    <a:pt x="95376" y="53340"/>
                  </a:lnTo>
                  <a:lnTo>
                    <a:pt x="103885" y="53340"/>
                  </a:lnTo>
                  <a:cubicBezTo>
                    <a:pt x="106933" y="53340"/>
                    <a:pt x="109473" y="55880"/>
                    <a:pt x="109473" y="58928"/>
                  </a:cubicBezTo>
                  <a:lnTo>
                    <a:pt x="109473" y="67437"/>
                  </a:lnTo>
                  <a:lnTo>
                    <a:pt x="115061" y="67437"/>
                  </a:lnTo>
                  <a:lnTo>
                    <a:pt x="115061" y="58928"/>
                  </a:lnTo>
                  <a:cubicBezTo>
                    <a:pt x="115061" y="55880"/>
                    <a:pt x="117601" y="53340"/>
                    <a:pt x="120649" y="53340"/>
                  </a:cubicBezTo>
                  <a:lnTo>
                    <a:pt x="129031" y="53340"/>
                  </a:lnTo>
                  <a:lnTo>
                    <a:pt x="129031" y="47752"/>
                  </a:lnTo>
                  <a:lnTo>
                    <a:pt x="120649" y="47752"/>
                  </a:lnTo>
                  <a:cubicBezTo>
                    <a:pt x="117601" y="47752"/>
                    <a:pt x="115061" y="45212"/>
                    <a:pt x="115061" y="42164"/>
                  </a:cubicBezTo>
                  <a:lnTo>
                    <a:pt x="115061" y="33782"/>
                  </a:lnTo>
                  <a:lnTo>
                    <a:pt x="109473" y="33782"/>
                  </a:lnTo>
                  <a:lnTo>
                    <a:pt x="109473" y="42164"/>
                  </a:lnTo>
                </a:path>
              </a:pathLst>
            </a:custGeom>
            <a:solidFill>
              <a:srgbClr val="C9C2C0"/>
            </a:solidFill>
          </p:spPr>
          <p:txBody>
            <a:bodyPr/>
            <a:lstStyle/>
            <a:p>
              <a:endParaRPr lang="en-US"/>
            </a:p>
          </p:txBody>
        </p:sp>
        <p:sp>
          <p:nvSpPr>
            <p:cNvPr id="15" name="Freeform 15"/>
            <p:cNvSpPr/>
            <p:nvPr/>
          </p:nvSpPr>
          <p:spPr>
            <a:xfrm>
              <a:off x="6883400" y="63500"/>
              <a:ext cx="3409950" cy="600075"/>
            </a:xfrm>
            <a:custGeom>
              <a:avLst/>
              <a:gdLst/>
              <a:ahLst/>
              <a:cxnLst/>
              <a:rect l="l" t="t" r="r" b="b"/>
              <a:pathLst>
                <a:path w="3409950" h="600075">
                  <a:moveTo>
                    <a:pt x="3259963" y="0"/>
                  </a:moveTo>
                  <a:lnTo>
                    <a:pt x="3409950" y="299974"/>
                  </a:lnTo>
                  <a:lnTo>
                    <a:pt x="3259963" y="600075"/>
                  </a:lnTo>
                  <a:lnTo>
                    <a:pt x="0" y="600075"/>
                  </a:lnTo>
                  <a:lnTo>
                    <a:pt x="149987" y="300101"/>
                  </a:lnTo>
                  <a:lnTo>
                    <a:pt x="0" y="0"/>
                  </a:lnTo>
                  <a:lnTo>
                    <a:pt x="3259963" y="0"/>
                  </a:lnTo>
                </a:path>
              </a:pathLst>
            </a:custGeom>
            <a:solidFill>
              <a:srgbClr val="373433"/>
            </a:solidFill>
          </p:spPr>
          <p:txBody>
            <a:bodyPr/>
            <a:lstStyle/>
            <a:p>
              <a:endParaRPr lang="en-US"/>
            </a:p>
          </p:txBody>
        </p:sp>
        <p:sp>
          <p:nvSpPr>
            <p:cNvPr id="16" name="Freeform 16"/>
            <p:cNvSpPr/>
            <p:nvPr/>
          </p:nvSpPr>
          <p:spPr>
            <a:xfrm>
              <a:off x="8474074" y="270637"/>
              <a:ext cx="224918" cy="194437"/>
            </a:xfrm>
            <a:custGeom>
              <a:avLst/>
              <a:gdLst/>
              <a:ahLst/>
              <a:cxnLst/>
              <a:rect l="l" t="t" r="r" b="b"/>
              <a:pathLst>
                <a:path w="224918" h="194437">
                  <a:moveTo>
                    <a:pt x="107189" y="40767"/>
                  </a:moveTo>
                  <a:cubicBezTo>
                    <a:pt x="108459" y="42291"/>
                    <a:pt x="110491" y="43180"/>
                    <a:pt x="112396" y="43180"/>
                  </a:cubicBezTo>
                  <a:cubicBezTo>
                    <a:pt x="114300" y="43180"/>
                    <a:pt x="116333" y="42291"/>
                    <a:pt x="117729" y="40767"/>
                  </a:cubicBezTo>
                  <a:lnTo>
                    <a:pt x="122936" y="34798"/>
                  </a:lnTo>
                  <a:lnTo>
                    <a:pt x="124841" y="32766"/>
                  </a:lnTo>
                  <a:cubicBezTo>
                    <a:pt x="136272" y="19939"/>
                    <a:pt x="153544" y="13970"/>
                    <a:pt x="170435" y="17018"/>
                  </a:cubicBezTo>
                  <a:cubicBezTo>
                    <a:pt x="193929" y="21209"/>
                    <a:pt x="210821" y="41656"/>
                    <a:pt x="210821" y="65532"/>
                  </a:cubicBezTo>
                  <a:lnTo>
                    <a:pt x="210821" y="67056"/>
                  </a:lnTo>
                  <a:cubicBezTo>
                    <a:pt x="210821" y="77470"/>
                    <a:pt x="207646" y="87630"/>
                    <a:pt x="201803" y="96012"/>
                  </a:cubicBezTo>
                  <a:cubicBezTo>
                    <a:pt x="201296" y="95885"/>
                    <a:pt x="200787" y="95885"/>
                    <a:pt x="200279" y="95885"/>
                  </a:cubicBezTo>
                  <a:lnTo>
                    <a:pt x="163323" y="95885"/>
                  </a:lnTo>
                  <a:cubicBezTo>
                    <a:pt x="160656" y="95885"/>
                    <a:pt x="158243" y="94361"/>
                    <a:pt x="157100" y="92075"/>
                  </a:cubicBezTo>
                  <a:lnTo>
                    <a:pt x="146940" y="71755"/>
                  </a:lnTo>
                  <a:cubicBezTo>
                    <a:pt x="145797" y="69342"/>
                    <a:pt x="143384" y="67945"/>
                    <a:pt x="140717" y="67945"/>
                  </a:cubicBezTo>
                  <a:cubicBezTo>
                    <a:pt x="138051" y="67945"/>
                    <a:pt x="135637" y="69469"/>
                    <a:pt x="134494" y="71755"/>
                  </a:cubicBezTo>
                  <a:lnTo>
                    <a:pt x="113031" y="114808"/>
                  </a:lnTo>
                  <a:lnTo>
                    <a:pt x="87504" y="57912"/>
                  </a:lnTo>
                  <a:cubicBezTo>
                    <a:pt x="86361" y="55372"/>
                    <a:pt x="83821" y="53721"/>
                    <a:pt x="81027" y="53848"/>
                  </a:cubicBezTo>
                  <a:cubicBezTo>
                    <a:pt x="78233" y="53975"/>
                    <a:pt x="75693" y="55626"/>
                    <a:pt x="74677" y="58166"/>
                  </a:cubicBezTo>
                  <a:lnTo>
                    <a:pt x="60707" y="91694"/>
                  </a:lnTo>
                  <a:cubicBezTo>
                    <a:pt x="59564" y="94361"/>
                    <a:pt x="57025" y="96012"/>
                    <a:pt x="54230" y="96012"/>
                  </a:cubicBezTo>
                  <a:lnTo>
                    <a:pt x="24893" y="96012"/>
                  </a:lnTo>
                  <a:cubicBezTo>
                    <a:pt x="24386" y="96012"/>
                    <a:pt x="23877" y="96012"/>
                    <a:pt x="23369" y="96139"/>
                  </a:cubicBezTo>
                  <a:cubicBezTo>
                    <a:pt x="17527" y="87630"/>
                    <a:pt x="14352" y="77597"/>
                    <a:pt x="14352" y="67183"/>
                  </a:cubicBezTo>
                  <a:lnTo>
                    <a:pt x="14352" y="65659"/>
                  </a:lnTo>
                  <a:cubicBezTo>
                    <a:pt x="14352" y="41783"/>
                    <a:pt x="31370" y="21463"/>
                    <a:pt x="54738" y="17145"/>
                  </a:cubicBezTo>
                  <a:cubicBezTo>
                    <a:pt x="71629" y="14097"/>
                    <a:pt x="88901" y="20066"/>
                    <a:pt x="100331" y="32893"/>
                  </a:cubicBezTo>
                  <a:lnTo>
                    <a:pt x="102237" y="34925"/>
                  </a:lnTo>
                  <a:lnTo>
                    <a:pt x="107570" y="40894"/>
                  </a:lnTo>
                  <a:close/>
                  <a:moveTo>
                    <a:pt x="188723" y="109982"/>
                  </a:moveTo>
                  <a:lnTo>
                    <a:pt x="208916" y="109982"/>
                  </a:lnTo>
                  <a:lnTo>
                    <a:pt x="208916" y="109982"/>
                  </a:lnTo>
                  <a:cubicBezTo>
                    <a:pt x="219203" y="98171"/>
                    <a:pt x="224918" y="82931"/>
                    <a:pt x="224918" y="67183"/>
                  </a:cubicBezTo>
                  <a:lnTo>
                    <a:pt x="224918" y="65659"/>
                  </a:lnTo>
                  <a:cubicBezTo>
                    <a:pt x="224918" y="35052"/>
                    <a:pt x="203075" y="8890"/>
                    <a:pt x="172975" y="3302"/>
                  </a:cubicBezTo>
                  <a:cubicBezTo>
                    <a:pt x="154941" y="0"/>
                    <a:pt x="136653" y="4699"/>
                    <a:pt x="122556" y="15748"/>
                  </a:cubicBezTo>
                  <a:cubicBezTo>
                    <a:pt x="121794" y="16383"/>
                    <a:pt x="121032" y="17018"/>
                    <a:pt x="120143" y="17780"/>
                  </a:cubicBezTo>
                  <a:cubicBezTo>
                    <a:pt x="118112" y="19558"/>
                    <a:pt x="116206" y="21463"/>
                    <a:pt x="114301" y="23495"/>
                  </a:cubicBezTo>
                  <a:lnTo>
                    <a:pt x="112396" y="25654"/>
                  </a:lnTo>
                  <a:lnTo>
                    <a:pt x="110618" y="23622"/>
                  </a:lnTo>
                  <a:cubicBezTo>
                    <a:pt x="108077" y="20701"/>
                    <a:pt x="105284" y="18161"/>
                    <a:pt x="102362" y="15875"/>
                  </a:cubicBezTo>
                  <a:cubicBezTo>
                    <a:pt x="88265" y="4826"/>
                    <a:pt x="69977" y="127"/>
                    <a:pt x="51944" y="3302"/>
                  </a:cubicBezTo>
                  <a:cubicBezTo>
                    <a:pt x="21845" y="8763"/>
                    <a:pt x="0" y="35052"/>
                    <a:pt x="0" y="65659"/>
                  </a:cubicBezTo>
                  <a:lnTo>
                    <a:pt x="0" y="67183"/>
                  </a:lnTo>
                  <a:cubicBezTo>
                    <a:pt x="0" y="83058"/>
                    <a:pt x="5715" y="98171"/>
                    <a:pt x="16129" y="109982"/>
                  </a:cubicBezTo>
                  <a:lnTo>
                    <a:pt x="16129" y="109982"/>
                  </a:lnTo>
                  <a:lnTo>
                    <a:pt x="36196" y="109982"/>
                  </a:lnTo>
                  <a:lnTo>
                    <a:pt x="53849" y="109982"/>
                  </a:lnTo>
                  <a:cubicBezTo>
                    <a:pt x="62358" y="109982"/>
                    <a:pt x="70105" y="104902"/>
                    <a:pt x="73280" y="97028"/>
                  </a:cubicBezTo>
                  <a:lnTo>
                    <a:pt x="81027" y="78486"/>
                  </a:lnTo>
                  <a:lnTo>
                    <a:pt x="106046" y="133985"/>
                  </a:lnTo>
                  <a:cubicBezTo>
                    <a:pt x="107189" y="136398"/>
                    <a:pt x="109602" y="138049"/>
                    <a:pt x="112269" y="138176"/>
                  </a:cubicBezTo>
                  <a:cubicBezTo>
                    <a:pt x="114935" y="138303"/>
                    <a:pt x="117475" y="136652"/>
                    <a:pt x="118746" y="134239"/>
                  </a:cubicBezTo>
                  <a:lnTo>
                    <a:pt x="140589" y="90551"/>
                  </a:lnTo>
                  <a:lnTo>
                    <a:pt x="144399" y="98298"/>
                  </a:lnTo>
                  <a:cubicBezTo>
                    <a:pt x="147956" y="105410"/>
                    <a:pt x="155321" y="109982"/>
                    <a:pt x="163195" y="109982"/>
                  </a:cubicBezTo>
                  <a:lnTo>
                    <a:pt x="188595" y="109982"/>
                  </a:lnTo>
                  <a:lnTo>
                    <a:pt x="188595" y="109982"/>
                  </a:lnTo>
                  <a:close/>
                  <a:moveTo>
                    <a:pt x="30608" y="124079"/>
                  </a:moveTo>
                  <a:lnTo>
                    <a:pt x="101474" y="190119"/>
                  </a:lnTo>
                  <a:cubicBezTo>
                    <a:pt x="104395" y="192913"/>
                    <a:pt x="108332" y="194437"/>
                    <a:pt x="112396" y="194437"/>
                  </a:cubicBezTo>
                  <a:cubicBezTo>
                    <a:pt x="115952" y="194437"/>
                    <a:pt x="119381" y="193294"/>
                    <a:pt x="122175" y="191135"/>
                  </a:cubicBezTo>
                  <a:cubicBezTo>
                    <a:pt x="122556" y="190754"/>
                    <a:pt x="122937" y="190500"/>
                    <a:pt x="123318" y="190119"/>
                  </a:cubicBezTo>
                  <a:lnTo>
                    <a:pt x="194312" y="124079"/>
                  </a:lnTo>
                  <a:lnTo>
                    <a:pt x="173611" y="124079"/>
                  </a:lnTo>
                  <a:lnTo>
                    <a:pt x="113793" y="179832"/>
                  </a:lnTo>
                  <a:cubicBezTo>
                    <a:pt x="113412" y="180086"/>
                    <a:pt x="112904" y="180340"/>
                    <a:pt x="112524" y="180340"/>
                  </a:cubicBezTo>
                  <a:cubicBezTo>
                    <a:pt x="112143" y="180340"/>
                    <a:pt x="111507" y="180213"/>
                    <a:pt x="111254" y="179832"/>
                  </a:cubicBezTo>
                  <a:lnTo>
                    <a:pt x="51437" y="124079"/>
                  </a:lnTo>
                  <a:lnTo>
                    <a:pt x="30736" y="124079"/>
                  </a:lnTo>
                </a:path>
              </a:pathLst>
            </a:custGeom>
            <a:solidFill>
              <a:srgbClr val="C9C2C0"/>
            </a:solidFill>
          </p:spPr>
          <p:txBody>
            <a:bodyPr/>
            <a:lstStyle/>
            <a:p>
              <a:endParaRPr lang="en-US"/>
            </a:p>
          </p:txBody>
        </p:sp>
      </p:grpSp>
      <p:sp>
        <p:nvSpPr>
          <p:cNvPr id="17" name="TextBox 17"/>
          <p:cNvSpPr txBox="1"/>
          <p:nvPr/>
        </p:nvSpPr>
        <p:spPr>
          <a:xfrm>
            <a:off x="600075" y="1247156"/>
            <a:ext cx="7511053" cy="246964"/>
          </a:xfrm>
          <a:prstGeom prst="rect">
            <a:avLst/>
          </a:prstGeom>
        </p:spPr>
        <p:txBody>
          <a:bodyPr lIns="0" tIns="0" rIns="0" bIns="0" rtlCol="0" anchor="t">
            <a:spAutoFit/>
          </a:bodyPr>
          <a:lstStyle/>
          <a:p>
            <a:pPr algn="l">
              <a:lnSpc>
                <a:spcPts val="1476"/>
              </a:lnSpc>
            </a:pPr>
            <a:r>
              <a:rPr lang="en-US" sz="2952" spc="-29">
                <a:solidFill>
                  <a:srgbClr val="D8B6A4"/>
                </a:solidFill>
                <a:latin typeface="IBM Plex Sans"/>
                <a:ea typeface="IBM Plex Sans"/>
                <a:cs typeface="IBM Plex Sans"/>
                <a:sym typeface="IBM Plex Sans"/>
              </a:rPr>
              <a:t>Impact on Healthcare and Patient Outcomes</a:t>
            </a:r>
          </a:p>
        </p:txBody>
      </p:sp>
      <p:sp>
        <p:nvSpPr>
          <p:cNvPr id="18" name="TextBox 18"/>
          <p:cNvSpPr txBox="1"/>
          <p:nvPr/>
        </p:nvSpPr>
        <p:spPr>
          <a:xfrm>
            <a:off x="889006" y="169708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19" name="TextBox 19"/>
          <p:cNvSpPr txBox="1"/>
          <p:nvPr/>
        </p:nvSpPr>
        <p:spPr>
          <a:xfrm>
            <a:off x="1322184" y="4576496"/>
            <a:ext cx="46082" cy="313925"/>
          </a:xfrm>
          <a:prstGeom prst="rect">
            <a:avLst/>
          </a:prstGeom>
        </p:spPr>
        <p:txBody>
          <a:bodyPr lIns="0" tIns="0" rIns="0" bIns="0" rtlCol="0" anchor="t">
            <a:spAutoFit/>
          </a:bodyPr>
          <a:lstStyle/>
          <a:p>
            <a:pPr algn="l">
              <a:lnSpc>
                <a:spcPts val="2760"/>
              </a:lnSpc>
            </a:pPr>
            <a:r>
              <a:rPr lang="en-US" sz="1476" spc="-14">
                <a:solidFill>
                  <a:srgbClr val="C9C2C0"/>
                </a:solidFill>
                <a:latin typeface="IBM Plex Sans"/>
                <a:ea typeface="IBM Plex Sans"/>
                <a:cs typeface="IBM Plex Sans"/>
                <a:sym typeface="IBM Plex Sans"/>
              </a:rPr>
              <a:t> </a:t>
            </a:r>
          </a:p>
        </p:txBody>
      </p:sp>
      <p:sp>
        <p:nvSpPr>
          <p:cNvPr id="20" name="TextBox 20"/>
          <p:cNvSpPr txBox="1"/>
          <p:nvPr/>
        </p:nvSpPr>
        <p:spPr>
          <a:xfrm>
            <a:off x="750094" y="4907013"/>
            <a:ext cx="2276770" cy="296932"/>
          </a:xfrm>
          <a:prstGeom prst="rect">
            <a:avLst/>
          </a:prstGeom>
        </p:spPr>
        <p:txBody>
          <a:bodyPr lIns="0" tIns="0" rIns="0" bIns="0" rtlCol="0" anchor="t">
            <a:spAutoFit/>
          </a:bodyPr>
          <a:lstStyle/>
          <a:p>
            <a:pPr algn="l">
              <a:lnSpc>
                <a:spcPts val="2635"/>
              </a:lnSpc>
            </a:pPr>
            <a:r>
              <a:rPr lang="en-US" sz="1181" spc="-11">
                <a:solidFill>
                  <a:srgbClr val="C9C2C0"/>
                </a:solidFill>
                <a:latin typeface="IBM Plex Sans"/>
                <a:ea typeface="IBM Plex Sans"/>
                <a:cs typeface="IBM Plex Sans"/>
                <a:sym typeface="IBM Plex Sans"/>
              </a:rPr>
              <a:t>Reduces waiting times for results.</a:t>
            </a:r>
          </a:p>
        </p:txBody>
      </p:sp>
      <p:sp>
        <p:nvSpPr>
          <p:cNvPr id="21" name="TextBox 21"/>
          <p:cNvSpPr txBox="1"/>
          <p:nvPr/>
        </p:nvSpPr>
        <p:spPr>
          <a:xfrm>
            <a:off x="600075" y="1697088"/>
            <a:ext cx="5886650" cy="325507"/>
          </a:xfrm>
          <a:prstGeom prst="rect">
            <a:avLst/>
          </a:prstGeom>
        </p:spPr>
        <p:txBody>
          <a:bodyPr lIns="0" tIns="0" rIns="0" bIns="0" rtlCol="0" anchor="t">
            <a:spAutoFit/>
          </a:bodyPr>
          <a:lstStyle/>
          <a:p>
            <a:pPr algn="l">
              <a:lnSpc>
                <a:spcPts val="2953"/>
              </a:lnSpc>
            </a:pPr>
            <a:r>
              <a:rPr lang="en-US" sz="1181" spc="-11" dirty="0">
                <a:solidFill>
                  <a:srgbClr val="C9C2C0"/>
                </a:solidFill>
                <a:latin typeface="IBM Plex Sans"/>
                <a:ea typeface="IBM Plex Sans"/>
                <a:cs typeface="IBM Plex Sans"/>
                <a:sym typeface="IBM Plex Sans"/>
              </a:rPr>
              <a:t>This automatic diagnosis system has the potential significantly impact healthcare by:</a:t>
            </a:r>
          </a:p>
        </p:txBody>
      </p:sp>
      <p:sp>
        <p:nvSpPr>
          <p:cNvPr id="22" name="TextBox 22"/>
          <p:cNvSpPr txBox="1"/>
          <p:nvPr/>
        </p:nvSpPr>
        <p:spPr>
          <a:xfrm>
            <a:off x="839981" y="2106663"/>
            <a:ext cx="5114820" cy="12018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Improving earlyintervention for skin diseases.</a:t>
            </a:r>
          </a:p>
          <a:p>
            <a:pPr algn="l">
              <a:lnSpc>
                <a:spcPts val="1697"/>
              </a:lnSpc>
            </a:pPr>
            <a:r>
              <a:rPr lang="en-US" sz="1181" spc="-11">
                <a:solidFill>
                  <a:srgbClr val="C9C2C0"/>
                </a:solidFill>
                <a:latin typeface="IBM Plex Sans"/>
                <a:ea typeface="IBM Plex Sans"/>
                <a:cs typeface="IBM Plex Sans"/>
                <a:sym typeface="IBM Plex Sans"/>
              </a:rPr>
              <a:t>Reducing diagnostic delays.</a:t>
            </a:r>
          </a:p>
          <a:p>
            <a:pPr algn="l">
              <a:lnSpc>
                <a:spcPts val="2803"/>
              </a:lnSpc>
            </a:pPr>
            <a:r>
              <a:rPr lang="en-US" sz="1181" spc="-11">
                <a:solidFill>
                  <a:srgbClr val="C9C2C0"/>
                </a:solidFill>
                <a:latin typeface="IBM Plex Sans"/>
                <a:ea typeface="IBM Plex Sans"/>
                <a:cs typeface="IBM Plex Sans"/>
                <a:sym typeface="IBM Plex Sans"/>
              </a:rPr>
              <a:t>Providing a valuable tool for remote consultations.</a:t>
            </a:r>
          </a:p>
          <a:p>
            <a:pPr algn="l">
              <a:lnSpc>
                <a:spcPts val="1846"/>
              </a:lnSpc>
            </a:pPr>
            <a:r>
              <a:rPr lang="en-US" sz="1181" spc="-11">
                <a:solidFill>
                  <a:srgbClr val="C9C2C0"/>
                </a:solidFill>
                <a:latin typeface="IBM Plex Sans"/>
                <a:ea typeface="IBM Plex Sans"/>
                <a:cs typeface="IBM Plex Sans"/>
                <a:sym typeface="IBM Plex Sans"/>
              </a:rPr>
              <a:t>Enhancing overall patient outcomes through timely and accurate diagnoses.</a:t>
            </a:r>
          </a:p>
        </p:txBody>
      </p:sp>
      <p:sp>
        <p:nvSpPr>
          <p:cNvPr id="23" name="TextBox 23"/>
          <p:cNvSpPr txBox="1"/>
          <p:nvPr/>
        </p:nvSpPr>
        <p:spPr>
          <a:xfrm>
            <a:off x="600075" y="3392538"/>
            <a:ext cx="5121707"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It serves as a supportive tool, not a replacement, for expert medical opinion.</a:t>
            </a:r>
          </a:p>
        </p:txBody>
      </p:sp>
      <p:sp>
        <p:nvSpPr>
          <p:cNvPr id="24" name="TextBox 24"/>
          <p:cNvSpPr txBox="1"/>
          <p:nvPr/>
        </p:nvSpPr>
        <p:spPr>
          <a:xfrm>
            <a:off x="4990614" y="4576496"/>
            <a:ext cx="46082" cy="313925"/>
          </a:xfrm>
          <a:prstGeom prst="rect">
            <a:avLst/>
          </a:prstGeom>
        </p:spPr>
        <p:txBody>
          <a:bodyPr lIns="0" tIns="0" rIns="0" bIns="0" rtlCol="0" anchor="t">
            <a:spAutoFit/>
          </a:bodyPr>
          <a:lstStyle/>
          <a:p>
            <a:pPr algn="l">
              <a:lnSpc>
                <a:spcPts val="2760"/>
              </a:lnSpc>
            </a:pPr>
            <a:r>
              <a:rPr lang="en-US" sz="1476" spc="-14">
                <a:solidFill>
                  <a:srgbClr val="C9C2C0"/>
                </a:solidFill>
                <a:latin typeface="IBM Plex Sans"/>
                <a:ea typeface="IBM Plex Sans"/>
                <a:cs typeface="IBM Plex Sans"/>
                <a:sym typeface="IBM Plex Sans"/>
              </a:rPr>
              <a:t> </a:t>
            </a:r>
          </a:p>
        </p:txBody>
      </p:sp>
      <p:sp>
        <p:nvSpPr>
          <p:cNvPr id="25" name="TextBox 25"/>
          <p:cNvSpPr txBox="1"/>
          <p:nvPr/>
        </p:nvSpPr>
        <p:spPr>
          <a:xfrm>
            <a:off x="4160053" y="4907013"/>
            <a:ext cx="3081652" cy="296932"/>
          </a:xfrm>
          <a:prstGeom prst="rect">
            <a:avLst/>
          </a:prstGeom>
        </p:spPr>
        <p:txBody>
          <a:bodyPr lIns="0" tIns="0" rIns="0" bIns="0" rtlCol="0" anchor="t">
            <a:spAutoFit/>
          </a:bodyPr>
          <a:lstStyle/>
          <a:p>
            <a:pPr algn="l">
              <a:lnSpc>
                <a:spcPts val="2635"/>
              </a:lnSpc>
            </a:pPr>
            <a:r>
              <a:rPr lang="en-US" sz="1181" spc="-11">
                <a:solidFill>
                  <a:srgbClr val="C9C2C0"/>
                </a:solidFill>
                <a:latin typeface="IBM Plex Sans"/>
                <a:ea typeface="IBM Plex Sans"/>
                <a:cs typeface="IBM Plex Sans"/>
                <a:sym typeface="IBM Plex Sans"/>
              </a:rPr>
              <a:t>Extends diagnostic capabilities to more areas.</a:t>
            </a:r>
          </a:p>
        </p:txBody>
      </p:sp>
      <p:sp>
        <p:nvSpPr>
          <p:cNvPr id="26" name="TextBox 26"/>
          <p:cNvSpPr txBox="1"/>
          <p:nvPr/>
        </p:nvSpPr>
        <p:spPr>
          <a:xfrm>
            <a:off x="8079791" y="4576496"/>
            <a:ext cx="46082" cy="313925"/>
          </a:xfrm>
          <a:prstGeom prst="rect">
            <a:avLst/>
          </a:prstGeom>
        </p:spPr>
        <p:txBody>
          <a:bodyPr lIns="0" tIns="0" rIns="0" bIns="0" rtlCol="0" anchor="t">
            <a:spAutoFit/>
          </a:bodyPr>
          <a:lstStyle/>
          <a:p>
            <a:pPr algn="l">
              <a:lnSpc>
                <a:spcPts val="2760"/>
              </a:lnSpc>
            </a:pPr>
            <a:r>
              <a:rPr lang="en-US" sz="1476" spc="-14">
                <a:solidFill>
                  <a:srgbClr val="C9C2C0"/>
                </a:solidFill>
                <a:latin typeface="IBM Plex Sans"/>
                <a:ea typeface="IBM Plex Sans"/>
                <a:cs typeface="IBM Plex Sans"/>
                <a:sym typeface="IBM Plex Sans"/>
              </a:rPr>
              <a:t> </a:t>
            </a:r>
          </a:p>
        </p:txBody>
      </p:sp>
      <p:sp>
        <p:nvSpPr>
          <p:cNvPr id="27" name="TextBox 27"/>
          <p:cNvSpPr txBox="1"/>
          <p:nvPr/>
        </p:nvSpPr>
        <p:spPr>
          <a:xfrm>
            <a:off x="7570003" y="4907013"/>
            <a:ext cx="2650293" cy="296932"/>
          </a:xfrm>
          <a:prstGeom prst="rect">
            <a:avLst/>
          </a:prstGeom>
        </p:spPr>
        <p:txBody>
          <a:bodyPr lIns="0" tIns="0" rIns="0" bIns="0" rtlCol="0" anchor="t">
            <a:spAutoFit/>
          </a:bodyPr>
          <a:lstStyle/>
          <a:p>
            <a:pPr algn="l">
              <a:lnSpc>
                <a:spcPts val="2635"/>
              </a:lnSpc>
            </a:pPr>
            <a:r>
              <a:rPr lang="en-US" sz="1181" spc="-11">
                <a:solidFill>
                  <a:srgbClr val="C9C2C0"/>
                </a:solidFill>
                <a:latin typeface="IBM Plex Sans"/>
                <a:ea typeface="IBM Plex Sans"/>
                <a:cs typeface="IBM Plex Sans"/>
                <a:sym typeface="IBM Plex Sans"/>
              </a:rPr>
              <a:t>Facilitates quicker treatment decisions.</a:t>
            </a:r>
          </a:p>
        </p:txBody>
      </p:sp>
      <p:sp>
        <p:nvSpPr>
          <p:cNvPr id="28" name="TextBox 28"/>
          <p:cNvSpPr txBox="1"/>
          <p:nvPr/>
        </p:nvSpPr>
        <p:spPr>
          <a:xfrm>
            <a:off x="750094" y="4643171"/>
            <a:ext cx="1459744" cy="247250"/>
          </a:xfrm>
          <a:prstGeom prst="rect">
            <a:avLst/>
          </a:prstGeom>
        </p:spPr>
        <p:txBody>
          <a:bodyPr lIns="0" tIns="0" rIns="0" bIns="0" rtlCol="0" anchor="t">
            <a:spAutoFit/>
          </a:bodyPr>
          <a:lstStyle/>
          <a:p>
            <a:pPr algn="l">
              <a:lnSpc>
                <a:spcPts val="2066"/>
              </a:lnSpc>
            </a:pPr>
            <a:r>
              <a:rPr lang="en-US" sz="1476" spc="-14">
                <a:solidFill>
                  <a:srgbClr val="C9C2C0"/>
                </a:solidFill>
                <a:latin typeface="IBM Plex Sans"/>
                <a:ea typeface="IBM Plex Sans"/>
                <a:cs typeface="IBM Plex Sans"/>
                <a:sym typeface="IBM Plex Sans"/>
              </a:rPr>
              <a:t>Timely</a:t>
            </a:r>
            <a:r>
              <a:rPr lang="en-US" sz="1476" spc="-14">
                <a:solidFill>
                  <a:srgbClr val="000000"/>
                </a:solidFill>
                <a:latin typeface="IBM Plex Sans"/>
                <a:ea typeface="IBM Plex Sans"/>
                <a:cs typeface="IBM Plex Sans"/>
                <a:sym typeface="IBM Plex Sans"/>
              </a:rPr>
              <a:t> </a:t>
            </a:r>
            <a:r>
              <a:rPr lang="en-US" sz="1476" spc="-14">
                <a:solidFill>
                  <a:srgbClr val="C9C2C0"/>
                </a:solidFill>
                <a:latin typeface="IBM Plex Sans"/>
                <a:ea typeface="IBM Plex Sans"/>
                <a:cs typeface="IBM Plex Sans"/>
                <a:sym typeface="IBM Plex Sans"/>
              </a:rPr>
              <a:t>Diagnosis</a:t>
            </a:r>
          </a:p>
        </p:txBody>
      </p:sp>
      <p:sp>
        <p:nvSpPr>
          <p:cNvPr id="29" name="TextBox 29"/>
          <p:cNvSpPr txBox="1"/>
          <p:nvPr/>
        </p:nvSpPr>
        <p:spPr>
          <a:xfrm>
            <a:off x="4160053" y="4643171"/>
            <a:ext cx="1452658" cy="247250"/>
          </a:xfrm>
          <a:prstGeom prst="rect">
            <a:avLst/>
          </a:prstGeom>
        </p:spPr>
        <p:txBody>
          <a:bodyPr lIns="0" tIns="0" rIns="0" bIns="0" rtlCol="0" anchor="t">
            <a:spAutoFit/>
          </a:bodyPr>
          <a:lstStyle/>
          <a:p>
            <a:pPr algn="l">
              <a:lnSpc>
                <a:spcPts val="2066"/>
              </a:lnSpc>
            </a:pPr>
            <a:r>
              <a:rPr lang="en-US" sz="1476" spc="-14">
                <a:solidFill>
                  <a:srgbClr val="C9C2C0"/>
                </a:solidFill>
                <a:latin typeface="IBM Plex Sans"/>
                <a:ea typeface="IBM Plex Sans"/>
                <a:cs typeface="IBM Plex Sans"/>
                <a:sym typeface="IBM Plex Sans"/>
              </a:rPr>
              <a:t>Enhanced</a:t>
            </a:r>
            <a:r>
              <a:rPr lang="en-US" sz="1476" spc="-14">
                <a:solidFill>
                  <a:srgbClr val="000000"/>
                </a:solidFill>
                <a:latin typeface="IBM Plex Sans"/>
                <a:ea typeface="IBM Plex Sans"/>
                <a:cs typeface="IBM Plex Sans"/>
                <a:sym typeface="IBM Plex Sans"/>
              </a:rPr>
              <a:t> </a:t>
            </a:r>
            <a:r>
              <a:rPr lang="en-US" sz="1476" spc="-14">
                <a:solidFill>
                  <a:srgbClr val="C9C2C0"/>
                </a:solidFill>
                <a:latin typeface="IBM Plex Sans"/>
                <a:ea typeface="IBM Plex Sans"/>
                <a:cs typeface="IBM Plex Sans"/>
                <a:sym typeface="IBM Plex Sans"/>
              </a:rPr>
              <a:t>Access</a:t>
            </a:r>
          </a:p>
        </p:txBody>
      </p:sp>
      <p:sp>
        <p:nvSpPr>
          <p:cNvPr id="30" name="TextBox 30"/>
          <p:cNvSpPr txBox="1"/>
          <p:nvPr/>
        </p:nvSpPr>
        <p:spPr>
          <a:xfrm>
            <a:off x="7570003" y="4643171"/>
            <a:ext cx="1417368" cy="247250"/>
          </a:xfrm>
          <a:prstGeom prst="rect">
            <a:avLst/>
          </a:prstGeom>
        </p:spPr>
        <p:txBody>
          <a:bodyPr lIns="0" tIns="0" rIns="0" bIns="0" rtlCol="0" anchor="t">
            <a:spAutoFit/>
          </a:bodyPr>
          <a:lstStyle/>
          <a:p>
            <a:pPr algn="l">
              <a:lnSpc>
                <a:spcPts val="2066"/>
              </a:lnSpc>
            </a:pPr>
            <a:r>
              <a:rPr lang="en-US" sz="1476" spc="-14">
                <a:solidFill>
                  <a:srgbClr val="C9C2C0"/>
                </a:solidFill>
                <a:latin typeface="IBM Plex Sans"/>
                <a:ea typeface="IBM Plex Sans"/>
                <a:cs typeface="IBM Plex Sans"/>
                <a:sym typeface="IBM Plex Sans"/>
              </a:rPr>
              <a:t>Better</a:t>
            </a:r>
            <a:r>
              <a:rPr lang="en-US" sz="1476" spc="-14">
                <a:solidFill>
                  <a:srgbClr val="000000"/>
                </a:solidFill>
                <a:latin typeface="IBM Plex Sans"/>
                <a:ea typeface="IBM Plex Sans"/>
                <a:cs typeface="IBM Plex Sans"/>
                <a:sym typeface="IBM Plex Sans"/>
              </a:rPr>
              <a:t> </a:t>
            </a:r>
            <a:r>
              <a:rPr lang="en-US" sz="1476" spc="-14">
                <a:solidFill>
                  <a:srgbClr val="C9C2C0"/>
                </a:solidFill>
                <a:latin typeface="IBM Plex Sans"/>
                <a:ea typeface="IBM Plex Sans"/>
                <a:cs typeface="IBM Plex Sans"/>
                <a:sym typeface="IBM Plex Sans"/>
              </a:rPr>
              <a:t>Outcomes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C7676"/>
        </a:solidFill>
        <a:effectLst/>
      </p:bgPr>
    </p:bg>
    <p:spTree>
      <p:nvGrpSpPr>
        <p:cNvPr id="1" name=""/>
        <p:cNvGrpSpPr/>
        <p:nvPr/>
      </p:nvGrpSpPr>
      <p:grpSpPr>
        <a:xfrm>
          <a:off x="0" y="0"/>
          <a:ext cx="0" cy="0"/>
          <a:chOff x="0" y="0"/>
          <a:chExt cx="0" cy="0"/>
        </a:xfrm>
      </p:grpSpPr>
      <p:grpSp>
        <p:nvGrpSpPr>
          <p:cNvPr id="2" name="Group 2"/>
          <p:cNvGrpSpPr/>
          <p:nvPr/>
        </p:nvGrpSpPr>
        <p:grpSpPr>
          <a:xfrm>
            <a:off x="5715000" y="3219451"/>
            <a:ext cx="5499608" cy="2691776"/>
            <a:chOff x="0" y="0"/>
            <a:chExt cx="700497" cy="241679"/>
          </a:xfrm>
        </p:grpSpPr>
        <p:sp>
          <p:nvSpPr>
            <p:cNvPr id="3" name="Freeform 3"/>
            <p:cNvSpPr/>
            <p:nvPr/>
          </p:nvSpPr>
          <p:spPr>
            <a:xfrm>
              <a:off x="0" y="0"/>
              <a:ext cx="700497" cy="241679"/>
            </a:xfrm>
            <a:custGeom>
              <a:avLst/>
              <a:gdLst/>
              <a:ahLst/>
              <a:cxnLst/>
              <a:rect l="l" t="t" r="r" b="b"/>
              <a:pathLst>
                <a:path w="700497" h="241679">
                  <a:moveTo>
                    <a:pt x="0" y="0"/>
                  </a:moveTo>
                  <a:lnTo>
                    <a:pt x="700497" y="0"/>
                  </a:lnTo>
                  <a:lnTo>
                    <a:pt x="700497" y="241679"/>
                  </a:lnTo>
                  <a:lnTo>
                    <a:pt x="0" y="241679"/>
                  </a:lnTo>
                  <a:close/>
                </a:path>
              </a:pathLst>
            </a:custGeom>
            <a:solidFill>
              <a:srgbClr val="000000"/>
            </a:solidFill>
            <a:ln w="38100" cap="sq">
              <a:solidFill>
                <a:srgbClr val="D8B6A4"/>
              </a:solidFill>
              <a:prstDash val="solid"/>
              <a:miter/>
            </a:ln>
          </p:spPr>
          <p:txBody>
            <a:bodyPr/>
            <a:lstStyle/>
            <a:p>
              <a:endParaRPr lang="en-US"/>
            </a:p>
          </p:txBody>
        </p:sp>
        <p:sp>
          <p:nvSpPr>
            <p:cNvPr id="4" name="TextBox 4"/>
            <p:cNvSpPr txBox="1"/>
            <p:nvPr/>
          </p:nvSpPr>
          <p:spPr>
            <a:xfrm>
              <a:off x="0" y="-142875"/>
              <a:ext cx="700497" cy="384554"/>
            </a:xfrm>
            <a:prstGeom prst="rect">
              <a:avLst/>
            </a:prstGeom>
          </p:spPr>
          <p:txBody>
            <a:bodyPr lIns="50800" tIns="50800" rIns="50800" bIns="50800" rtlCol="0" anchor="ctr"/>
            <a:lstStyle/>
            <a:p>
              <a:pPr algn="ctr">
                <a:lnSpc>
                  <a:spcPts val="2953"/>
                </a:lnSpc>
              </a:pPr>
              <a:endParaRPr/>
            </a:p>
            <a:p>
              <a:pPr algn="ctr">
                <a:lnSpc>
                  <a:spcPts val="2953"/>
                </a:lnSpc>
              </a:pPr>
              <a:endParaRPr/>
            </a:p>
          </p:txBody>
        </p:sp>
      </p:grpSp>
      <p:grpSp>
        <p:nvGrpSpPr>
          <p:cNvPr id="5" name="Group 5"/>
          <p:cNvGrpSpPr/>
          <p:nvPr/>
        </p:nvGrpSpPr>
        <p:grpSpPr>
          <a:xfrm>
            <a:off x="65258" y="3021661"/>
            <a:ext cx="5195204" cy="3195421"/>
            <a:chOff x="0" y="0"/>
            <a:chExt cx="2367068" cy="780768"/>
          </a:xfrm>
        </p:grpSpPr>
        <p:sp>
          <p:nvSpPr>
            <p:cNvPr id="6" name="Freeform 6"/>
            <p:cNvSpPr/>
            <p:nvPr/>
          </p:nvSpPr>
          <p:spPr>
            <a:xfrm>
              <a:off x="0" y="0"/>
              <a:ext cx="2367068" cy="780768"/>
            </a:xfrm>
            <a:custGeom>
              <a:avLst/>
              <a:gdLst/>
              <a:ahLst/>
              <a:cxnLst/>
              <a:rect l="l" t="t" r="r" b="b"/>
              <a:pathLst>
                <a:path w="2367068" h="780768">
                  <a:moveTo>
                    <a:pt x="0" y="0"/>
                  </a:moveTo>
                  <a:lnTo>
                    <a:pt x="2367068" y="0"/>
                  </a:lnTo>
                  <a:lnTo>
                    <a:pt x="2367068" y="780768"/>
                  </a:lnTo>
                  <a:lnTo>
                    <a:pt x="0" y="780768"/>
                  </a:lnTo>
                  <a:close/>
                </a:path>
              </a:pathLst>
            </a:custGeom>
            <a:solidFill>
              <a:srgbClr val="000000"/>
            </a:solidFill>
            <a:ln w="38100" cap="sq">
              <a:solidFill>
                <a:srgbClr val="C49F8C"/>
              </a:solidFill>
              <a:prstDash val="solid"/>
              <a:miter/>
            </a:ln>
          </p:spPr>
          <p:txBody>
            <a:bodyPr/>
            <a:lstStyle/>
            <a:p>
              <a:endParaRPr lang="en-US"/>
            </a:p>
          </p:txBody>
        </p:sp>
        <p:sp>
          <p:nvSpPr>
            <p:cNvPr id="7" name="TextBox 7"/>
            <p:cNvSpPr txBox="1"/>
            <p:nvPr/>
          </p:nvSpPr>
          <p:spPr>
            <a:xfrm>
              <a:off x="0" y="-142875"/>
              <a:ext cx="2367068" cy="923643"/>
            </a:xfrm>
            <a:prstGeom prst="rect">
              <a:avLst/>
            </a:prstGeom>
          </p:spPr>
          <p:txBody>
            <a:bodyPr lIns="50800" tIns="50800" rIns="50800" bIns="50800" rtlCol="0" anchor="ctr"/>
            <a:lstStyle/>
            <a:p>
              <a:pPr algn="ctr">
                <a:lnSpc>
                  <a:spcPts val="2953"/>
                </a:lnSpc>
              </a:pPr>
              <a:endParaRPr/>
            </a:p>
          </p:txBody>
        </p:sp>
      </p:grpSp>
      <p:sp>
        <p:nvSpPr>
          <p:cNvPr id="8" name="TextBox 8"/>
          <p:cNvSpPr txBox="1"/>
          <p:nvPr/>
        </p:nvSpPr>
        <p:spPr>
          <a:xfrm>
            <a:off x="643920" y="586770"/>
            <a:ext cx="6053456" cy="514350"/>
          </a:xfrm>
          <a:prstGeom prst="rect">
            <a:avLst/>
          </a:prstGeom>
        </p:spPr>
        <p:txBody>
          <a:bodyPr lIns="0" tIns="0" rIns="0" bIns="0" rtlCol="0" anchor="t">
            <a:spAutoFit/>
          </a:bodyPr>
          <a:lstStyle/>
          <a:p>
            <a:pPr algn="ctr">
              <a:lnSpc>
                <a:spcPts val="4200"/>
              </a:lnSpc>
            </a:pPr>
            <a:r>
              <a:rPr lang="en-US" sz="3000" b="1">
                <a:solidFill>
                  <a:srgbClr val="C49F8C"/>
                </a:solidFill>
                <a:latin typeface="Canva Sans Bold"/>
                <a:ea typeface="Canva Sans Bold"/>
                <a:cs typeface="Canva Sans Bold"/>
                <a:sym typeface="Canva Sans Bold"/>
              </a:rPr>
              <a:t>Key Takeaways &amp; Future Outlook</a:t>
            </a:r>
          </a:p>
        </p:txBody>
      </p:sp>
      <p:sp>
        <p:nvSpPr>
          <p:cNvPr id="9" name="TextBox 9"/>
          <p:cNvSpPr txBox="1"/>
          <p:nvPr/>
        </p:nvSpPr>
        <p:spPr>
          <a:xfrm>
            <a:off x="1304748" y="1561606"/>
            <a:ext cx="10142159" cy="701675"/>
          </a:xfrm>
          <a:prstGeom prst="rect">
            <a:avLst/>
          </a:prstGeom>
        </p:spPr>
        <p:txBody>
          <a:bodyPr lIns="0" tIns="0" rIns="0" bIns="0" rtlCol="0" anchor="t">
            <a:spAutoFit/>
          </a:bodyPr>
          <a:lstStyle/>
          <a:p>
            <a:pPr algn="l">
              <a:lnSpc>
                <a:spcPts val="2800"/>
              </a:lnSpc>
            </a:pPr>
            <a:r>
              <a:rPr lang="en-US" sz="2000">
                <a:solidFill>
                  <a:srgbClr val="FFFFFF"/>
                </a:solidFill>
                <a:latin typeface="Canva Sans"/>
                <a:ea typeface="Canva Sans"/>
                <a:cs typeface="Canva Sans"/>
                <a:sym typeface="Canva Sans"/>
              </a:rPr>
              <a:t>Automatic skin disease diagnosis is revolutionising dermatology, offering a future of proactive and accessible skin health management.</a:t>
            </a:r>
          </a:p>
        </p:txBody>
      </p:sp>
      <p:sp>
        <p:nvSpPr>
          <p:cNvPr id="10" name="TextBox 10"/>
          <p:cNvSpPr txBox="1"/>
          <p:nvPr/>
        </p:nvSpPr>
        <p:spPr>
          <a:xfrm>
            <a:off x="6142879" y="3583912"/>
            <a:ext cx="5526267" cy="1406525"/>
          </a:xfrm>
          <a:prstGeom prst="rect">
            <a:avLst/>
          </a:prstGeom>
        </p:spPr>
        <p:txBody>
          <a:bodyPr lIns="0" tIns="0" rIns="0" bIns="0" rtlCol="0" anchor="t">
            <a:spAutoFit/>
          </a:bodyPr>
          <a:lstStyle/>
          <a:p>
            <a:pPr algn="l">
              <a:lnSpc>
                <a:spcPts val="2800"/>
              </a:lnSpc>
            </a:pPr>
            <a:r>
              <a:rPr lang="en-US" sz="2000">
                <a:solidFill>
                  <a:srgbClr val="FFFFFF"/>
                </a:solidFill>
                <a:latin typeface="Canva Sans"/>
                <a:ea typeface="Canva Sans"/>
                <a:cs typeface="Canva Sans"/>
                <a:sym typeface="Canva Sans"/>
              </a:rPr>
              <a:t>Early Identification</a:t>
            </a:r>
          </a:p>
          <a:p>
            <a:pPr algn="l">
              <a:lnSpc>
                <a:spcPts val="2800"/>
              </a:lnSpc>
            </a:pPr>
            <a:r>
              <a:rPr lang="en-US" sz="2000">
                <a:solidFill>
                  <a:srgbClr val="FFFFFF"/>
                </a:solidFill>
                <a:latin typeface="Canva Sans"/>
                <a:ea typeface="Canva Sans"/>
                <a:cs typeface="Canva Sans"/>
                <a:sym typeface="Canva Sans"/>
              </a:rPr>
              <a:t>AI enables prompt detection of serious diseases like skin cancer, </a:t>
            </a:r>
          </a:p>
          <a:p>
            <a:pPr algn="l">
              <a:lnSpc>
                <a:spcPts val="2800"/>
              </a:lnSpc>
            </a:pPr>
            <a:r>
              <a:rPr lang="en-US" sz="2000">
                <a:solidFill>
                  <a:srgbClr val="FFFFFF"/>
                </a:solidFill>
                <a:latin typeface="Canva Sans"/>
                <a:ea typeface="Canva Sans"/>
                <a:cs typeface="Canva Sans"/>
                <a:sym typeface="Canva Sans"/>
              </a:rPr>
              <a:t>improving treatment outcomes.</a:t>
            </a:r>
          </a:p>
        </p:txBody>
      </p:sp>
      <p:sp>
        <p:nvSpPr>
          <p:cNvPr id="11" name="TextBox 11"/>
          <p:cNvSpPr txBox="1"/>
          <p:nvPr/>
        </p:nvSpPr>
        <p:spPr>
          <a:xfrm>
            <a:off x="380544" y="3014966"/>
            <a:ext cx="5071080" cy="1526760"/>
          </a:xfrm>
          <a:prstGeom prst="rect">
            <a:avLst/>
          </a:prstGeom>
        </p:spPr>
        <p:txBody>
          <a:bodyPr lIns="0" tIns="0" rIns="0" bIns="0" rtlCol="0" anchor="t">
            <a:spAutoFit/>
          </a:bodyPr>
          <a:lstStyle/>
          <a:p>
            <a:pPr algn="l">
              <a:lnSpc>
                <a:spcPts val="3067"/>
              </a:lnSpc>
            </a:pPr>
            <a:r>
              <a:rPr lang="en-US" sz="2190">
                <a:solidFill>
                  <a:srgbClr val="FFFFFF"/>
                </a:solidFill>
                <a:latin typeface="Canva Sans"/>
                <a:ea typeface="Canva Sans"/>
                <a:cs typeface="Canva Sans"/>
                <a:sym typeface="Canva Sans"/>
              </a:rPr>
              <a:t>Enhanced Accessibility</a:t>
            </a:r>
          </a:p>
          <a:p>
            <a:pPr algn="l">
              <a:lnSpc>
                <a:spcPts val="3067"/>
              </a:lnSpc>
            </a:pPr>
            <a:endParaRPr lang="en-US" sz="2190">
              <a:solidFill>
                <a:srgbClr val="FFFFFF"/>
              </a:solidFill>
              <a:latin typeface="Canva Sans"/>
              <a:ea typeface="Canva Sans"/>
              <a:cs typeface="Canva Sans"/>
              <a:sym typeface="Canva Sans"/>
            </a:endParaRPr>
          </a:p>
          <a:p>
            <a:pPr algn="l">
              <a:lnSpc>
                <a:spcPts val="3067"/>
              </a:lnSpc>
            </a:pPr>
            <a:r>
              <a:rPr lang="en-US" sz="2190">
                <a:solidFill>
                  <a:srgbClr val="FFFFFF"/>
                </a:solidFill>
                <a:latin typeface="Canva Sans"/>
                <a:ea typeface="Canva Sans"/>
                <a:cs typeface="Canva Sans"/>
                <a:sym typeface="Canva Sans"/>
              </a:rPr>
              <a:t>Provides vital diagnostic support in remote areas, bridging healthcare </a:t>
            </a:r>
          </a:p>
          <a:p>
            <a:pPr algn="l">
              <a:lnSpc>
                <a:spcPts val="3067"/>
              </a:lnSpc>
            </a:pPr>
            <a:endParaRPr lang="en-US" sz="2190">
              <a:solidFill>
                <a:srgbClr val="FFFFFF"/>
              </a:solidFill>
              <a:latin typeface="Canva Sans"/>
              <a:ea typeface="Canva Sans"/>
              <a:cs typeface="Canva Sans"/>
              <a:sym typeface="Canva Sans"/>
            </a:endParaRPr>
          </a:p>
          <a:p>
            <a:pPr algn="l">
              <a:lnSpc>
                <a:spcPts val="3067"/>
              </a:lnSpc>
            </a:pPr>
            <a:r>
              <a:rPr lang="en-US" sz="2190">
                <a:solidFill>
                  <a:srgbClr val="FFFFFF"/>
                </a:solidFill>
                <a:latin typeface="Canva Sans"/>
                <a:ea typeface="Canva Sans"/>
                <a:cs typeface="Canva Sans"/>
                <a:sym typeface="Canva Sans"/>
              </a:rPr>
              <a:t>gaps.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88F30-F96B-A478-4D35-4AADBC1482B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A5E2D2A-8AE0-841B-84E2-2B61EFDB1E10}"/>
              </a:ext>
            </a:extLst>
          </p:cNvPr>
          <p:cNvSpPr/>
          <p:nvPr/>
        </p:nvSpPr>
        <p:spPr>
          <a:xfrm>
            <a:off x="0" y="1"/>
            <a:ext cx="11430000" cy="6438900"/>
          </a:xfrm>
          <a:custGeom>
            <a:avLst/>
            <a:gdLst/>
            <a:ahLst/>
            <a:cxnLst/>
            <a:rect l="l" t="t" r="r" b="b"/>
            <a:pathLst>
              <a:path w="11430000" h="6439205">
                <a:moveTo>
                  <a:pt x="0" y="0"/>
                </a:moveTo>
                <a:lnTo>
                  <a:pt x="11430000" y="0"/>
                </a:lnTo>
                <a:lnTo>
                  <a:pt x="11430000" y="6439205"/>
                </a:lnTo>
                <a:lnTo>
                  <a:pt x="0" y="6439205"/>
                </a:lnTo>
                <a:lnTo>
                  <a:pt x="0" y="0"/>
                </a:lnTo>
                <a:close/>
              </a:path>
            </a:pathLst>
          </a:custGeom>
          <a:blipFill>
            <a:blip r:embed="rId2"/>
            <a:stretch>
              <a:fillRect l="-1000" t="-40528" r="-1000" b="-40528"/>
            </a:stretch>
          </a:blipFill>
        </p:spPr>
        <p:txBody>
          <a:bodyPr anchor="ctr"/>
          <a:lstStyle/>
          <a:p>
            <a:r>
              <a:rPr lang="en-GB" sz="4000" b="1" i="1" dirty="0">
                <a:solidFill>
                  <a:schemeClr val="accent3">
                    <a:lumMod val="75000"/>
                  </a:schemeClr>
                </a:solidFill>
                <a:latin typeface="Abadi Extra Light" pitchFamily="2" charset="0"/>
                <a:ea typeface="Abadi Extra Light" pitchFamily="2" charset="0"/>
              </a:rPr>
              <a:t>          Benefits of Automatic Skin Disease Diagnosis</a:t>
            </a:r>
            <a:endParaRPr lang="en-GB" sz="4000" b="1" i="1" dirty="0">
              <a:solidFill>
                <a:schemeClr val="accent6"/>
              </a:solidFill>
              <a:latin typeface="Abadi Extra Light" pitchFamily="2" charset="0"/>
              <a:ea typeface="Abadi Extra Light" pitchFamily="2" charset="0"/>
            </a:endParaRPr>
          </a:p>
          <a:p>
            <a:r>
              <a:rPr lang="en-GB" sz="2000" b="1" i="1" dirty="0">
                <a:solidFill>
                  <a:schemeClr val="accent6"/>
                </a:solidFill>
                <a:latin typeface="Abadi Extra Light" pitchFamily="2" charset="0"/>
                <a:ea typeface="Abadi Extra Light" pitchFamily="2" charset="0"/>
              </a:rPr>
              <a:t>        </a:t>
            </a:r>
            <a:r>
              <a:rPr lang="en-GB" sz="2000" i="1" dirty="0">
                <a:solidFill>
                  <a:schemeClr val="accent3">
                    <a:lumMod val="20000"/>
                    <a:lumOff val="80000"/>
                  </a:schemeClr>
                </a:solidFill>
                <a:latin typeface="Abadi Extra Light" pitchFamily="2" charset="0"/>
                <a:ea typeface="Abadi Extra Light" pitchFamily="2" charset="0"/>
              </a:rPr>
              <a:t>These solutions offer significant advantages in healthcare delivery and patient outcomes</a:t>
            </a:r>
          </a:p>
          <a:p>
            <a:endParaRPr lang="en-GB" sz="2000" i="1" dirty="0">
              <a:solidFill>
                <a:schemeClr val="accent3">
                  <a:lumMod val="20000"/>
                  <a:lumOff val="80000"/>
                </a:schemeClr>
              </a:solidFill>
              <a:latin typeface="Abadi Extra Light" pitchFamily="2" charset="0"/>
              <a:ea typeface="Abadi Extra Light" pitchFamily="2" charset="0"/>
            </a:endParaRPr>
          </a:p>
          <a:p>
            <a:endParaRPr lang="en-GB" sz="2000" i="1" dirty="0">
              <a:solidFill>
                <a:schemeClr val="accent3">
                  <a:lumMod val="20000"/>
                  <a:lumOff val="80000"/>
                </a:schemeClr>
              </a:solidFill>
              <a:latin typeface="Abadi Extra Light" pitchFamily="2" charset="0"/>
              <a:ea typeface="Abadi Extra Light" pitchFamily="2" charset="0"/>
            </a:endParaRPr>
          </a:p>
          <a:p>
            <a:endParaRPr lang="en-GB" sz="2000" i="1" dirty="0">
              <a:solidFill>
                <a:schemeClr val="accent3">
                  <a:lumMod val="20000"/>
                  <a:lumOff val="80000"/>
                </a:schemeClr>
              </a:solidFill>
              <a:latin typeface="Abadi Extra Light" pitchFamily="2" charset="0"/>
              <a:ea typeface="Abadi Extra Light" pitchFamily="2" charset="0"/>
            </a:endParaRPr>
          </a:p>
          <a:p>
            <a:pPr lvl="1"/>
            <a:r>
              <a:rPr lang="en-GB" sz="2000" i="1" dirty="0">
                <a:solidFill>
                  <a:schemeClr val="accent3">
                    <a:lumMod val="20000"/>
                    <a:lumOff val="80000"/>
                  </a:schemeClr>
                </a:solidFill>
                <a:latin typeface="Abadi Extra Light" pitchFamily="2" charset="0"/>
                <a:ea typeface="Abadi Extra Light" pitchFamily="2" charset="0"/>
              </a:rPr>
              <a:t>🌍  </a:t>
            </a:r>
            <a:r>
              <a:rPr lang="en-US" sz="1600" spc="-11" dirty="0">
                <a:solidFill>
                  <a:srgbClr val="C9C2C0"/>
                </a:solidFill>
                <a:latin typeface="IBM Plex Sans"/>
              </a:rPr>
              <a:t>Fast Diagnosis</a:t>
            </a:r>
            <a:endParaRPr lang="en-GB" sz="1600" spc="-11" dirty="0">
              <a:solidFill>
                <a:srgbClr val="C9C2C0"/>
              </a:solidFill>
              <a:latin typeface="IBM Plex Sans"/>
            </a:endParaRPr>
          </a:p>
          <a:p>
            <a:pPr lvl="1"/>
            <a:r>
              <a:rPr lang="en-GB" sz="1600" spc="-11" dirty="0">
                <a:solidFill>
                  <a:srgbClr val="C9C2C0"/>
                </a:solidFill>
                <a:latin typeface="IBM Plex Sans"/>
              </a:rPr>
              <a:t>               </a:t>
            </a:r>
            <a:r>
              <a:rPr lang="en-US" sz="1600" spc="-11" dirty="0">
                <a:solidFill>
                  <a:srgbClr val="C9C2C0"/>
                </a:solidFill>
                <a:latin typeface="IBM Plex Sans"/>
              </a:rPr>
              <a:t>Results are available in seconds or minutes, accelerating the diagnostic process.</a:t>
            </a:r>
            <a:endParaRPr lang="en-GB" sz="1600" spc="-11" dirty="0">
              <a:solidFill>
                <a:srgbClr val="C9C2C0"/>
              </a:solidFill>
              <a:latin typeface="IBM Plex Sans"/>
            </a:endParaRPr>
          </a:p>
          <a:p>
            <a:pPr lvl="1"/>
            <a:endParaRPr lang="en-GB" sz="1600" spc="-11" dirty="0">
              <a:solidFill>
                <a:srgbClr val="C9C2C0"/>
              </a:solidFill>
              <a:latin typeface="IBM Plex Sans"/>
            </a:endParaRPr>
          </a:p>
          <a:p>
            <a:pPr lvl="1"/>
            <a:r>
              <a:rPr lang="en-GB" sz="1600" spc="-11" dirty="0">
                <a:solidFill>
                  <a:srgbClr val="C9C2C0"/>
                </a:solidFill>
                <a:latin typeface="IBM Plex Sans"/>
              </a:rPr>
              <a:t>🌍Accessible</a:t>
            </a:r>
          </a:p>
          <a:p>
            <a:pPr lvl="2"/>
            <a:r>
              <a:rPr lang="en-GB" sz="1600" spc="-11" dirty="0">
                <a:solidFill>
                  <a:srgbClr val="C9C2C0"/>
                </a:solidFill>
                <a:latin typeface="IBM Plex Sans"/>
              </a:rPr>
              <a:t>            Provides crucial help to people in rural or remote areas with limited access to                                 dermatologists. Data-Driven Systems improve over time with more data and feedback,</a:t>
            </a:r>
          </a:p>
          <a:p>
            <a:pPr lvl="2"/>
            <a:r>
              <a:rPr lang="en-GB" sz="1600" spc="-11" dirty="0">
                <a:solidFill>
                  <a:srgbClr val="C9C2C0"/>
                </a:solidFill>
                <a:latin typeface="IBM Plex Sans"/>
              </a:rPr>
              <a:t> enhancing accuracy</a:t>
            </a:r>
          </a:p>
          <a:p>
            <a:pPr lvl="1"/>
            <a:endParaRPr lang="en-GB" sz="1600" spc="-11" dirty="0">
              <a:solidFill>
                <a:srgbClr val="C9C2C0"/>
              </a:solidFill>
              <a:latin typeface="IBM Plex Sans"/>
            </a:endParaRPr>
          </a:p>
          <a:p>
            <a:pPr lvl="1"/>
            <a:r>
              <a:rPr lang="en-GB" sz="1600" spc="-11" dirty="0">
                <a:solidFill>
                  <a:srgbClr val="C9C2C0"/>
                </a:solidFill>
                <a:latin typeface="IBM Plex Sans"/>
              </a:rPr>
              <a:t>🌍Cost Effective</a:t>
            </a:r>
          </a:p>
          <a:p>
            <a:pPr lvl="1"/>
            <a:r>
              <a:rPr lang="en-GB" sz="1600" spc="-11" dirty="0">
                <a:solidFill>
                  <a:srgbClr val="C9C2C0"/>
                </a:solidFill>
                <a:latin typeface="IBM Plex Sans"/>
              </a:rPr>
              <a:t>            Reduces the need for multiple hospital visits, lowering healthcare expenses</a:t>
            </a:r>
          </a:p>
          <a:p>
            <a:pPr lvl="1"/>
            <a:endParaRPr lang="en-GB" sz="1600" spc="-11" dirty="0">
              <a:solidFill>
                <a:srgbClr val="C9C2C0"/>
              </a:solidFill>
              <a:latin typeface="IBM Plex Sans"/>
            </a:endParaRPr>
          </a:p>
          <a:p>
            <a:pPr lvl="1"/>
            <a:r>
              <a:rPr lang="en-GB" sz="1600" spc="-11" dirty="0">
                <a:solidFill>
                  <a:srgbClr val="C9C2C0"/>
                </a:solidFill>
                <a:latin typeface="IBM Plex Sans"/>
              </a:rPr>
              <a:t>🌍Data-Driven</a:t>
            </a:r>
          </a:p>
          <a:p>
            <a:pPr lvl="1"/>
            <a:r>
              <a:rPr lang="en-GB" sz="1600" spc="-11" dirty="0">
                <a:solidFill>
                  <a:srgbClr val="C9C2C0"/>
                </a:solidFill>
                <a:latin typeface="IBM Plex Sans"/>
              </a:rPr>
              <a:t>             Systems improve over time with more data and feedback, enhancing accuracy and reliability.</a:t>
            </a:r>
            <a:endParaRPr lang="en-US" sz="1600" spc="-11" dirty="0">
              <a:solidFill>
                <a:srgbClr val="C9C2C0"/>
              </a:solidFill>
              <a:latin typeface="IBM Plex Sans"/>
            </a:endParaRPr>
          </a:p>
        </p:txBody>
      </p:sp>
    </p:spTree>
    <p:extLst>
      <p:ext uri="{BB962C8B-B14F-4D97-AF65-F5344CB8AC3E}">
        <p14:creationId xmlns:p14="http://schemas.microsoft.com/office/powerpoint/2010/main" val="4030211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a:extLst>
            <a:ext uri="{FF2B5EF4-FFF2-40B4-BE49-F238E27FC236}">
              <a16:creationId xmlns:a16="http://schemas.microsoft.com/office/drawing/2014/main" id="{6ED36049-7BF0-B517-43EC-D72B7DED2023}"/>
            </a:ext>
          </a:extLst>
        </p:cNvPr>
        <p:cNvGrpSpPr/>
        <p:nvPr/>
      </p:nvGrpSpPr>
      <p:grpSpPr>
        <a:xfrm>
          <a:off x="0" y="0"/>
          <a:ext cx="0" cy="0"/>
          <a:chOff x="0" y="0"/>
          <a:chExt cx="0" cy="0"/>
        </a:xfrm>
      </p:grpSpPr>
      <p:sp>
        <p:nvSpPr>
          <p:cNvPr id="17" name="TextBox 17">
            <a:extLst>
              <a:ext uri="{FF2B5EF4-FFF2-40B4-BE49-F238E27FC236}">
                <a16:creationId xmlns:a16="http://schemas.microsoft.com/office/drawing/2014/main" id="{869D5058-DBAE-C939-6F1D-CAF1159B81D4}"/>
              </a:ext>
            </a:extLst>
          </p:cNvPr>
          <p:cNvSpPr txBox="1"/>
          <p:nvPr/>
        </p:nvSpPr>
        <p:spPr>
          <a:xfrm>
            <a:off x="600075" y="704850"/>
            <a:ext cx="7668844" cy="240387"/>
          </a:xfrm>
          <a:prstGeom prst="rect">
            <a:avLst/>
          </a:prstGeom>
        </p:spPr>
        <p:txBody>
          <a:bodyPr wrap="square" lIns="0" tIns="0" rIns="0" bIns="0" rtlCol="0" anchor="t">
            <a:spAutoFit/>
          </a:bodyPr>
          <a:lstStyle/>
          <a:p>
            <a:pPr algn="l">
              <a:lnSpc>
                <a:spcPts val="1476"/>
              </a:lnSpc>
            </a:pPr>
            <a:r>
              <a:rPr lang="en-US" sz="2952" spc="-29" dirty="0">
                <a:solidFill>
                  <a:srgbClr val="D8B6A4"/>
                </a:solidFill>
                <a:latin typeface="IBM Plex Sans"/>
                <a:ea typeface="IBM Plex Sans"/>
                <a:cs typeface="IBM Plex Sans"/>
                <a:sym typeface="IBM Plex Sans"/>
              </a:rPr>
              <a:t>Hardware Requirement</a:t>
            </a:r>
          </a:p>
        </p:txBody>
      </p:sp>
      <p:sp>
        <p:nvSpPr>
          <p:cNvPr id="18" name="TextBox 18">
            <a:extLst>
              <a:ext uri="{FF2B5EF4-FFF2-40B4-BE49-F238E27FC236}">
                <a16:creationId xmlns:a16="http://schemas.microsoft.com/office/drawing/2014/main" id="{2890F447-72C0-E7F8-D600-9E0C988EEF62}"/>
              </a:ext>
            </a:extLst>
          </p:cNvPr>
          <p:cNvSpPr txBox="1"/>
          <p:nvPr/>
        </p:nvSpPr>
        <p:spPr>
          <a:xfrm>
            <a:off x="889006" y="169708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sp>
        <p:nvSpPr>
          <p:cNvPr id="2" name="TextBox 1">
            <a:extLst>
              <a:ext uri="{FF2B5EF4-FFF2-40B4-BE49-F238E27FC236}">
                <a16:creationId xmlns:a16="http://schemas.microsoft.com/office/drawing/2014/main" id="{894070C1-AA30-A0BF-0834-B067F0CEF85B}"/>
              </a:ext>
            </a:extLst>
          </p:cNvPr>
          <p:cNvSpPr txBox="1"/>
          <p:nvPr/>
        </p:nvSpPr>
        <p:spPr>
          <a:xfrm>
            <a:off x="573181" y="1145432"/>
            <a:ext cx="7335341" cy="1200329"/>
          </a:xfrm>
          <a:prstGeom prst="rect">
            <a:avLst/>
          </a:prstGeom>
          <a:noFill/>
        </p:spPr>
        <p:txBody>
          <a:bodyPr wrap="none" rtlCol="0">
            <a:spAutoFit/>
          </a:bodyPr>
          <a:lstStyle/>
          <a:p>
            <a:r>
              <a:rPr lang="en-IN" b="1" dirty="0">
                <a:solidFill>
                  <a:schemeClr val="bg1"/>
                </a:solidFill>
                <a:latin typeface="Times New Roman" panose="02020603050405020304" pitchFamily="18" charset="0"/>
                <a:cs typeface="Times New Roman" panose="02020603050405020304" pitchFamily="18" charset="0"/>
              </a:rPr>
              <a:t>CPU:</a:t>
            </a:r>
            <a:r>
              <a:rPr lang="en-IN" dirty="0">
                <a:solidFill>
                  <a:schemeClr val="bg1"/>
                </a:solidFill>
                <a:latin typeface="Times New Roman" panose="02020603050405020304" pitchFamily="18" charset="0"/>
                <a:cs typeface="Times New Roman" panose="02020603050405020304" pitchFamily="18" charset="0"/>
              </a:rPr>
              <a:t> Intel i7 / AMD </a:t>
            </a:r>
            <a:r>
              <a:rPr lang="en-IN" dirty="0" err="1">
                <a:solidFill>
                  <a:schemeClr val="bg1"/>
                </a:solidFill>
                <a:latin typeface="Times New Roman" panose="02020603050405020304" pitchFamily="18" charset="0"/>
                <a:cs typeface="Times New Roman" panose="02020603050405020304" pitchFamily="18" charset="0"/>
              </a:rPr>
              <a:t>Ryzen</a:t>
            </a:r>
            <a:r>
              <a:rPr lang="en-IN" dirty="0">
                <a:solidFill>
                  <a:schemeClr val="bg1"/>
                </a:solidFill>
                <a:latin typeface="Times New Roman" panose="02020603050405020304" pitchFamily="18" charset="0"/>
                <a:cs typeface="Times New Roman" panose="02020603050405020304" pitchFamily="18" charset="0"/>
              </a:rPr>
              <a:t> 7 or higher</a:t>
            </a:r>
          </a:p>
          <a:p>
            <a:r>
              <a:rPr lang="en-IN" b="1" dirty="0">
                <a:solidFill>
                  <a:schemeClr val="bg1"/>
                </a:solidFill>
                <a:latin typeface="Times New Roman" panose="02020603050405020304" pitchFamily="18" charset="0"/>
                <a:cs typeface="Times New Roman" panose="02020603050405020304" pitchFamily="18" charset="0"/>
              </a:rPr>
              <a:t>RAM:</a:t>
            </a:r>
            <a:r>
              <a:rPr lang="en-IN" dirty="0">
                <a:solidFill>
                  <a:schemeClr val="bg1"/>
                </a:solidFill>
                <a:latin typeface="Times New Roman" panose="02020603050405020304" pitchFamily="18" charset="0"/>
                <a:cs typeface="Times New Roman" panose="02020603050405020304" pitchFamily="18" charset="0"/>
              </a:rPr>
              <a:t> 16–32 GB</a:t>
            </a:r>
          </a:p>
          <a:p>
            <a:r>
              <a:rPr lang="en-IN" b="1" dirty="0">
                <a:solidFill>
                  <a:schemeClr val="bg1"/>
                </a:solidFill>
                <a:latin typeface="Times New Roman" panose="02020603050405020304" pitchFamily="18" charset="0"/>
                <a:cs typeface="Times New Roman" panose="02020603050405020304" pitchFamily="18" charset="0"/>
              </a:rPr>
              <a:t>GPU:</a:t>
            </a:r>
            <a:r>
              <a:rPr lang="en-IN" dirty="0">
                <a:solidFill>
                  <a:schemeClr val="bg1"/>
                </a:solidFill>
                <a:latin typeface="Times New Roman" panose="02020603050405020304" pitchFamily="18" charset="0"/>
                <a:cs typeface="Times New Roman" panose="02020603050405020304" pitchFamily="18" charset="0"/>
              </a:rPr>
              <a:t> NVIDIA GTX 1660 / RTX 2060 or higher (with at least 6 GB VRAM)</a:t>
            </a:r>
          </a:p>
          <a:p>
            <a:r>
              <a:rPr lang="en-IN" b="1" dirty="0">
                <a:solidFill>
                  <a:schemeClr val="bg1"/>
                </a:solidFill>
                <a:latin typeface="Times New Roman" panose="02020603050405020304" pitchFamily="18" charset="0"/>
                <a:cs typeface="Times New Roman" panose="02020603050405020304" pitchFamily="18" charset="0"/>
              </a:rPr>
              <a:t>Storage:</a:t>
            </a:r>
            <a:r>
              <a:rPr lang="en-IN" dirty="0">
                <a:solidFill>
                  <a:schemeClr val="bg1"/>
                </a:solidFill>
                <a:latin typeface="Times New Roman" panose="02020603050405020304" pitchFamily="18" charset="0"/>
                <a:cs typeface="Times New Roman" panose="02020603050405020304" pitchFamily="18" charset="0"/>
              </a:rPr>
              <a:t> 512 GB – 1 TB SSD</a:t>
            </a:r>
          </a:p>
        </p:txBody>
      </p:sp>
      <p:sp>
        <p:nvSpPr>
          <p:cNvPr id="4" name="TextBox 17">
            <a:extLst>
              <a:ext uri="{FF2B5EF4-FFF2-40B4-BE49-F238E27FC236}">
                <a16:creationId xmlns:a16="http://schemas.microsoft.com/office/drawing/2014/main" id="{858E7ABD-A86F-E3B5-480D-9BFC3BC2A5E6}"/>
              </a:ext>
            </a:extLst>
          </p:cNvPr>
          <p:cNvSpPr txBox="1"/>
          <p:nvPr/>
        </p:nvSpPr>
        <p:spPr>
          <a:xfrm>
            <a:off x="559734" y="2979759"/>
            <a:ext cx="7668844" cy="240387"/>
          </a:xfrm>
          <a:prstGeom prst="rect">
            <a:avLst/>
          </a:prstGeom>
        </p:spPr>
        <p:txBody>
          <a:bodyPr wrap="square" lIns="0" tIns="0" rIns="0" bIns="0" rtlCol="0" anchor="t">
            <a:spAutoFit/>
          </a:bodyPr>
          <a:lstStyle/>
          <a:p>
            <a:pPr algn="l">
              <a:lnSpc>
                <a:spcPts val="1476"/>
              </a:lnSpc>
            </a:pPr>
            <a:r>
              <a:rPr lang="en-US" sz="2952" spc="-29" dirty="0">
                <a:solidFill>
                  <a:srgbClr val="D8B6A4"/>
                </a:solidFill>
                <a:latin typeface="IBM Plex Sans"/>
                <a:ea typeface="IBM Plex Sans"/>
                <a:cs typeface="IBM Plex Sans"/>
                <a:sym typeface="IBM Plex Sans"/>
              </a:rPr>
              <a:t>Software Requirement</a:t>
            </a:r>
          </a:p>
        </p:txBody>
      </p:sp>
      <p:sp>
        <p:nvSpPr>
          <p:cNvPr id="5" name="TextBox 4">
            <a:extLst>
              <a:ext uri="{FF2B5EF4-FFF2-40B4-BE49-F238E27FC236}">
                <a16:creationId xmlns:a16="http://schemas.microsoft.com/office/drawing/2014/main" id="{3BB505CB-C9E8-3103-B0F1-754C35F06671}"/>
              </a:ext>
            </a:extLst>
          </p:cNvPr>
          <p:cNvSpPr txBox="1"/>
          <p:nvPr/>
        </p:nvSpPr>
        <p:spPr>
          <a:xfrm>
            <a:off x="506498" y="3269323"/>
            <a:ext cx="5374548" cy="3139321"/>
          </a:xfrm>
          <a:prstGeom prst="rect">
            <a:avLst/>
          </a:prstGeom>
          <a:noFill/>
        </p:spPr>
        <p:txBody>
          <a:bodyPr wrap="none" rtlCol="0">
            <a:spAutoFit/>
          </a:bodyPr>
          <a:lstStyle/>
          <a:p>
            <a:r>
              <a:rPr lang="en-IN" b="1" dirty="0">
                <a:solidFill>
                  <a:schemeClr val="bg1"/>
                </a:solidFill>
                <a:latin typeface="Times New Roman" panose="02020603050405020304" pitchFamily="18" charset="0"/>
                <a:cs typeface="Times New Roman" panose="02020603050405020304" pitchFamily="18" charset="0"/>
              </a:rPr>
              <a:t>Operating System:</a:t>
            </a:r>
            <a:r>
              <a:rPr lang="en-IN" dirty="0">
                <a:solidFill>
                  <a:schemeClr val="bg1"/>
                </a:solidFill>
                <a:latin typeface="Times New Roman" panose="02020603050405020304" pitchFamily="18" charset="0"/>
                <a:cs typeface="Times New Roman" panose="02020603050405020304" pitchFamily="18" charset="0"/>
              </a:rPr>
              <a:t> Windows, macOS, or Linux</a:t>
            </a:r>
          </a:p>
          <a:p>
            <a:r>
              <a:rPr lang="en-IN" b="1" dirty="0">
                <a:solidFill>
                  <a:schemeClr val="bg1"/>
                </a:solidFill>
                <a:latin typeface="Times New Roman" panose="02020603050405020304" pitchFamily="18" charset="0"/>
                <a:cs typeface="Times New Roman" panose="02020603050405020304" pitchFamily="18" charset="0"/>
              </a:rPr>
              <a:t>Programming Language:</a:t>
            </a:r>
            <a:r>
              <a:rPr lang="en-IN" dirty="0">
                <a:solidFill>
                  <a:schemeClr val="bg1"/>
                </a:solidFill>
                <a:latin typeface="Times New Roman" panose="02020603050405020304" pitchFamily="18" charset="0"/>
                <a:cs typeface="Times New Roman" panose="02020603050405020304" pitchFamily="18" charset="0"/>
              </a:rPr>
              <a:t> Python 3.9+</a:t>
            </a:r>
          </a:p>
          <a:p>
            <a:r>
              <a:rPr lang="en-IN" b="1" dirty="0">
                <a:solidFill>
                  <a:schemeClr val="bg1"/>
                </a:solidFill>
                <a:latin typeface="Times New Roman" panose="02020603050405020304" pitchFamily="18" charset="0"/>
                <a:cs typeface="Times New Roman" panose="02020603050405020304" pitchFamily="18" charset="0"/>
              </a:rPr>
              <a:t>Web Framework:</a:t>
            </a:r>
            <a:r>
              <a:rPr lang="en-IN" dirty="0">
                <a:solidFill>
                  <a:schemeClr val="bg1"/>
                </a:solidFill>
                <a:latin typeface="Times New Roman" panose="02020603050405020304" pitchFamily="18" charset="0"/>
                <a:cs typeface="Times New Roman" panose="02020603050405020304" pitchFamily="18" charset="0"/>
              </a:rPr>
              <a:t> Flask</a:t>
            </a:r>
          </a:p>
          <a:p>
            <a:r>
              <a:rPr lang="en-IN" b="1" dirty="0">
                <a:solidFill>
                  <a:schemeClr val="bg1"/>
                </a:solidFill>
                <a:latin typeface="Times New Roman" panose="02020603050405020304" pitchFamily="18" charset="0"/>
                <a:cs typeface="Times New Roman" panose="02020603050405020304" pitchFamily="18" charset="0"/>
              </a:rPr>
              <a:t>ML Libraries:</a:t>
            </a:r>
            <a:endParaRPr lang="en-IN" dirty="0">
              <a:solidFill>
                <a:schemeClr val="bg1"/>
              </a:solidFill>
              <a:latin typeface="Times New Roman" panose="02020603050405020304" pitchFamily="18" charset="0"/>
              <a:cs typeface="Times New Roman" panose="02020603050405020304" pitchFamily="18" charset="0"/>
            </a:endParaRPr>
          </a:p>
          <a:p>
            <a:r>
              <a:rPr lang="en-IN" dirty="0">
                <a:solidFill>
                  <a:schemeClr val="bg1"/>
                </a:solidFill>
                <a:latin typeface="Times New Roman" panose="02020603050405020304" pitchFamily="18" charset="0"/>
                <a:cs typeface="Times New Roman" panose="02020603050405020304" pitchFamily="18" charset="0"/>
              </a:rPr>
              <a:t>NumPy, Pandas (data handling)</a:t>
            </a:r>
          </a:p>
          <a:p>
            <a:r>
              <a:rPr lang="en-IN" dirty="0">
                <a:solidFill>
                  <a:schemeClr val="bg1"/>
                </a:solidFill>
                <a:latin typeface="Times New Roman" panose="02020603050405020304" pitchFamily="18" charset="0"/>
                <a:cs typeface="Times New Roman" panose="02020603050405020304" pitchFamily="18" charset="0"/>
              </a:rPr>
              <a:t>Scikit-learn, TensorFlow</a:t>
            </a:r>
          </a:p>
          <a:p>
            <a:r>
              <a:rPr lang="en-IN" b="1" dirty="0">
                <a:solidFill>
                  <a:schemeClr val="bg1"/>
                </a:solidFill>
                <a:latin typeface="Times New Roman" panose="02020603050405020304" pitchFamily="18" charset="0"/>
                <a:cs typeface="Times New Roman" panose="02020603050405020304" pitchFamily="18" charset="0"/>
              </a:rPr>
              <a:t>Frontend / Templates:</a:t>
            </a:r>
            <a:r>
              <a:rPr lang="en-IN" dirty="0">
                <a:solidFill>
                  <a:schemeClr val="bg1"/>
                </a:solidFill>
                <a:latin typeface="Times New Roman" panose="02020603050405020304" pitchFamily="18" charset="0"/>
                <a:cs typeface="Times New Roman" panose="02020603050405020304" pitchFamily="18" charset="0"/>
              </a:rPr>
              <a:t> HTML, CSS, JavaScript, Jinja2</a:t>
            </a:r>
          </a:p>
          <a:p>
            <a:r>
              <a:rPr lang="en-IN" b="1" dirty="0">
                <a:solidFill>
                  <a:schemeClr val="bg1"/>
                </a:solidFill>
                <a:latin typeface="Times New Roman" panose="02020603050405020304" pitchFamily="18" charset="0"/>
                <a:cs typeface="Times New Roman" panose="02020603050405020304" pitchFamily="18" charset="0"/>
              </a:rPr>
              <a:t>Development Tools:</a:t>
            </a:r>
            <a:r>
              <a:rPr lang="en-IN" dirty="0">
                <a:solidFill>
                  <a:schemeClr val="bg1"/>
                </a:solidFill>
                <a:latin typeface="Times New Roman" panose="02020603050405020304" pitchFamily="18" charset="0"/>
                <a:cs typeface="Times New Roman" panose="02020603050405020304" pitchFamily="18" charset="0"/>
              </a:rPr>
              <a:t> VS Code </a:t>
            </a:r>
            <a:r>
              <a:rPr lang="en-IN" dirty="0" err="1">
                <a:solidFill>
                  <a:schemeClr val="bg1"/>
                </a:solidFill>
                <a:latin typeface="Times New Roman" panose="02020603050405020304" pitchFamily="18" charset="0"/>
                <a:cs typeface="Times New Roman" panose="02020603050405020304" pitchFamily="18" charset="0"/>
              </a:rPr>
              <a:t>Jupyter</a:t>
            </a:r>
            <a:r>
              <a:rPr lang="en-IN" dirty="0">
                <a:solidFill>
                  <a:schemeClr val="bg1"/>
                </a:solidFill>
                <a:latin typeface="Times New Roman" panose="02020603050405020304" pitchFamily="18" charset="0"/>
                <a:cs typeface="Times New Roman" panose="02020603050405020304" pitchFamily="18" charset="0"/>
              </a:rPr>
              <a:t> Notebook</a:t>
            </a:r>
          </a:p>
          <a:p>
            <a:r>
              <a:rPr lang="en-IN" b="1" dirty="0">
                <a:solidFill>
                  <a:schemeClr val="bg1"/>
                </a:solidFill>
                <a:latin typeface="Times New Roman" panose="02020603050405020304" pitchFamily="18" charset="0"/>
                <a:cs typeface="Times New Roman" panose="02020603050405020304" pitchFamily="18" charset="0"/>
              </a:rPr>
              <a:t>Database (optional):</a:t>
            </a:r>
            <a:r>
              <a:rPr lang="en-IN" dirty="0">
                <a:solidFill>
                  <a:schemeClr val="bg1"/>
                </a:solidFill>
                <a:latin typeface="Times New Roman" panose="02020603050405020304" pitchFamily="18" charset="0"/>
                <a:cs typeface="Times New Roman" panose="02020603050405020304" pitchFamily="18" charset="0"/>
              </a:rPr>
              <a:t> SQLite</a:t>
            </a:r>
          </a:p>
          <a:p>
            <a:r>
              <a:rPr lang="en-IN" b="1" dirty="0">
                <a:solidFill>
                  <a:schemeClr val="bg1"/>
                </a:solidFill>
                <a:latin typeface="Times New Roman" panose="02020603050405020304" pitchFamily="18" charset="0"/>
                <a:cs typeface="Times New Roman" panose="02020603050405020304" pitchFamily="18" charset="0"/>
              </a:rPr>
              <a:t>Optional (for GPU ML models):</a:t>
            </a:r>
            <a:r>
              <a:rPr lang="en-IN" dirty="0">
                <a:solidFill>
                  <a:schemeClr val="bg1"/>
                </a:solidFill>
                <a:latin typeface="Times New Roman" panose="02020603050405020304" pitchFamily="18" charset="0"/>
                <a:cs typeface="Times New Roman" panose="02020603050405020304" pitchFamily="18" charset="0"/>
              </a:rPr>
              <a:t> CUDA + </a:t>
            </a:r>
            <a:r>
              <a:rPr lang="en-IN" dirty="0" err="1">
                <a:solidFill>
                  <a:schemeClr val="bg1"/>
                </a:solidFill>
                <a:latin typeface="Times New Roman" panose="02020603050405020304" pitchFamily="18" charset="0"/>
                <a:cs typeface="Times New Roman" panose="02020603050405020304" pitchFamily="18" charset="0"/>
              </a:rPr>
              <a:t>cuDNN</a:t>
            </a:r>
            <a:endParaRPr lang="en-IN"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292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a:extLst>
            <a:ext uri="{FF2B5EF4-FFF2-40B4-BE49-F238E27FC236}">
              <a16:creationId xmlns:a16="http://schemas.microsoft.com/office/drawing/2014/main" id="{60001B6B-715F-D68E-A777-8348C9D95723}"/>
            </a:ext>
          </a:extLst>
        </p:cNvPr>
        <p:cNvGrpSpPr/>
        <p:nvPr/>
      </p:nvGrpSpPr>
      <p:grpSpPr>
        <a:xfrm>
          <a:off x="0" y="0"/>
          <a:ext cx="0" cy="0"/>
          <a:chOff x="0" y="0"/>
          <a:chExt cx="0" cy="0"/>
        </a:xfrm>
      </p:grpSpPr>
      <p:sp>
        <p:nvSpPr>
          <p:cNvPr id="17" name="TextBox 17">
            <a:extLst>
              <a:ext uri="{FF2B5EF4-FFF2-40B4-BE49-F238E27FC236}">
                <a16:creationId xmlns:a16="http://schemas.microsoft.com/office/drawing/2014/main" id="{D1499BC6-55F5-A5CA-60F1-828EF78C2A0B}"/>
              </a:ext>
            </a:extLst>
          </p:cNvPr>
          <p:cNvSpPr txBox="1"/>
          <p:nvPr/>
        </p:nvSpPr>
        <p:spPr>
          <a:xfrm>
            <a:off x="600075" y="704850"/>
            <a:ext cx="7668844" cy="240387"/>
          </a:xfrm>
          <a:prstGeom prst="rect">
            <a:avLst/>
          </a:prstGeom>
        </p:spPr>
        <p:txBody>
          <a:bodyPr wrap="square" lIns="0" tIns="0" rIns="0" bIns="0" rtlCol="0" anchor="t">
            <a:spAutoFit/>
          </a:bodyPr>
          <a:lstStyle/>
          <a:p>
            <a:pPr algn="l">
              <a:lnSpc>
                <a:spcPts val="1476"/>
              </a:lnSpc>
            </a:pPr>
            <a:r>
              <a:rPr lang="en-US" sz="2952" spc="-29" dirty="0">
                <a:solidFill>
                  <a:srgbClr val="D8B6A4"/>
                </a:solidFill>
                <a:latin typeface="IBM Plex Sans"/>
                <a:ea typeface="IBM Plex Sans"/>
                <a:cs typeface="IBM Plex Sans"/>
                <a:sym typeface="IBM Plex Sans"/>
              </a:rPr>
              <a:t>Use Case Diagram</a:t>
            </a:r>
          </a:p>
        </p:txBody>
      </p:sp>
      <p:sp>
        <p:nvSpPr>
          <p:cNvPr id="18" name="TextBox 18">
            <a:extLst>
              <a:ext uri="{FF2B5EF4-FFF2-40B4-BE49-F238E27FC236}">
                <a16:creationId xmlns:a16="http://schemas.microsoft.com/office/drawing/2014/main" id="{8BFA4069-DC17-8031-133E-34EB972D8C2E}"/>
              </a:ext>
            </a:extLst>
          </p:cNvPr>
          <p:cNvSpPr txBox="1"/>
          <p:nvPr/>
        </p:nvSpPr>
        <p:spPr>
          <a:xfrm>
            <a:off x="889006" y="169708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pic>
        <p:nvPicPr>
          <p:cNvPr id="3" name="Picture 2" descr="A screen shot of a computer screen&#10;&#10;AI-generated content may be incorrect.">
            <a:extLst>
              <a:ext uri="{FF2B5EF4-FFF2-40B4-BE49-F238E27FC236}">
                <a16:creationId xmlns:a16="http://schemas.microsoft.com/office/drawing/2014/main" id="{4B3D69C0-76BC-CEDF-28EA-FA5A104346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991114"/>
            <a:ext cx="5198326" cy="4514336"/>
          </a:xfrm>
          <a:prstGeom prst="rect">
            <a:avLst/>
          </a:prstGeom>
        </p:spPr>
      </p:pic>
    </p:spTree>
    <p:extLst>
      <p:ext uri="{BB962C8B-B14F-4D97-AF65-F5344CB8AC3E}">
        <p14:creationId xmlns:p14="http://schemas.microsoft.com/office/powerpoint/2010/main" val="1652287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a:extLst>
            <a:ext uri="{FF2B5EF4-FFF2-40B4-BE49-F238E27FC236}">
              <a16:creationId xmlns:a16="http://schemas.microsoft.com/office/drawing/2014/main" id="{BF2F8E9D-C479-E8DA-251F-E4334CFFDFEC}"/>
            </a:ext>
          </a:extLst>
        </p:cNvPr>
        <p:cNvGrpSpPr/>
        <p:nvPr/>
      </p:nvGrpSpPr>
      <p:grpSpPr>
        <a:xfrm>
          <a:off x="0" y="0"/>
          <a:ext cx="0" cy="0"/>
          <a:chOff x="0" y="0"/>
          <a:chExt cx="0" cy="0"/>
        </a:xfrm>
      </p:grpSpPr>
      <p:sp>
        <p:nvSpPr>
          <p:cNvPr id="17" name="TextBox 17">
            <a:extLst>
              <a:ext uri="{FF2B5EF4-FFF2-40B4-BE49-F238E27FC236}">
                <a16:creationId xmlns:a16="http://schemas.microsoft.com/office/drawing/2014/main" id="{41A566E5-B271-7D06-B822-D0D471837322}"/>
              </a:ext>
            </a:extLst>
          </p:cNvPr>
          <p:cNvSpPr txBox="1"/>
          <p:nvPr/>
        </p:nvSpPr>
        <p:spPr>
          <a:xfrm>
            <a:off x="600075" y="704850"/>
            <a:ext cx="7668844" cy="240387"/>
          </a:xfrm>
          <a:prstGeom prst="rect">
            <a:avLst/>
          </a:prstGeom>
        </p:spPr>
        <p:txBody>
          <a:bodyPr wrap="square" lIns="0" tIns="0" rIns="0" bIns="0" rtlCol="0" anchor="t">
            <a:spAutoFit/>
          </a:bodyPr>
          <a:lstStyle/>
          <a:p>
            <a:pPr algn="l">
              <a:lnSpc>
                <a:spcPts val="1476"/>
              </a:lnSpc>
            </a:pPr>
            <a:r>
              <a:rPr lang="en-US" sz="2952" spc="-29" dirty="0">
                <a:solidFill>
                  <a:srgbClr val="D8B6A4"/>
                </a:solidFill>
                <a:latin typeface="IBM Plex Sans"/>
                <a:ea typeface="IBM Plex Sans"/>
                <a:cs typeface="IBM Plex Sans"/>
                <a:sym typeface="IBM Plex Sans"/>
              </a:rPr>
              <a:t>Sequence Diagram</a:t>
            </a:r>
          </a:p>
        </p:txBody>
      </p:sp>
      <p:sp>
        <p:nvSpPr>
          <p:cNvPr id="18" name="TextBox 18">
            <a:extLst>
              <a:ext uri="{FF2B5EF4-FFF2-40B4-BE49-F238E27FC236}">
                <a16:creationId xmlns:a16="http://schemas.microsoft.com/office/drawing/2014/main" id="{AAD0C670-7374-2922-73DA-AB62C7426254}"/>
              </a:ext>
            </a:extLst>
          </p:cNvPr>
          <p:cNvSpPr txBox="1"/>
          <p:nvPr/>
        </p:nvSpPr>
        <p:spPr>
          <a:xfrm>
            <a:off x="889006" y="169708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pic>
        <p:nvPicPr>
          <p:cNvPr id="4" name="Picture 3" descr="A diagram of skin disease website&#10;&#10;AI-generated content may be incorrect.">
            <a:extLst>
              <a:ext uri="{FF2B5EF4-FFF2-40B4-BE49-F238E27FC236}">
                <a16:creationId xmlns:a16="http://schemas.microsoft.com/office/drawing/2014/main" id="{98D5461B-8708-ADC6-FF18-C84657A06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96" y="1524000"/>
            <a:ext cx="9497398" cy="4748700"/>
          </a:xfrm>
          <a:prstGeom prst="rect">
            <a:avLst/>
          </a:prstGeom>
        </p:spPr>
      </p:pic>
    </p:spTree>
    <p:extLst>
      <p:ext uri="{BB962C8B-B14F-4D97-AF65-F5344CB8AC3E}">
        <p14:creationId xmlns:p14="http://schemas.microsoft.com/office/powerpoint/2010/main" val="3280441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64342"/>
        </a:solidFill>
        <a:effectLst/>
      </p:bgPr>
    </p:bg>
    <p:spTree>
      <p:nvGrpSpPr>
        <p:cNvPr id="1" name="">
          <a:extLst>
            <a:ext uri="{FF2B5EF4-FFF2-40B4-BE49-F238E27FC236}">
              <a16:creationId xmlns:a16="http://schemas.microsoft.com/office/drawing/2014/main" id="{E0ACCE49-9355-D2CF-945C-7B29F77F9387}"/>
            </a:ext>
          </a:extLst>
        </p:cNvPr>
        <p:cNvGrpSpPr/>
        <p:nvPr/>
      </p:nvGrpSpPr>
      <p:grpSpPr>
        <a:xfrm>
          <a:off x="0" y="0"/>
          <a:ext cx="0" cy="0"/>
          <a:chOff x="0" y="0"/>
          <a:chExt cx="0" cy="0"/>
        </a:xfrm>
      </p:grpSpPr>
      <p:sp>
        <p:nvSpPr>
          <p:cNvPr id="17" name="TextBox 17">
            <a:extLst>
              <a:ext uri="{FF2B5EF4-FFF2-40B4-BE49-F238E27FC236}">
                <a16:creationId xmlns:a16="http://schemas.microsoft.com/office/drawing/2014/main" id="{3AE2D659-F315-BB85-12AD-677B095536F6}"/>
              </a:ext>
            </a:extLst>
          </p:cNvPr>
          <p:cNvSpPr txBox="1"/>
          <p:nvPr/>
        </p:nvSpPr>
        <p:spPr>
          <a:xfrm>
            <a:off x="600075" y="704850"/>
            <a:ext cx="7668844" cy="240387"/>
          </a:xfrm>
          <a:prstGeom prst="rect">
            <a:avLst/>
          </a:prstGeom>
        </p:spPr>
        <p:txBody>
          <a:bodyPr wrap="square" lIns="0" tIns="0" rIns="0" bIns="0" rtlCol="0" anchor="t">
            <a:spAutoFit/>
          </a:bodyPr>
          <a:lstStyle/>
          <a:p>
            <a:pPr algn="l">
              <a:lnSpc>
                <a:spcPts val="1476"/>
              </a:lnSpc>
            </a:pPr>
            <a:r>
              <a:rPr lang="en-US" sz="2952" spc="-29" dirty="0">
                <a:solidFill>
                  <a:srgbClr val="D8B6A4"/>
                </a:solidFill>
                <a:latin typeface="IBM Plex Sans"/>
                <a:ea typeface="IBM Plex Sans"/>
                <a:cs typeface="IBM Plex Sans"/>
                <a:sym typeface="IBM Plex Sans"/>
              </a:rPr>
              <a:t>Activity Diagram</a:t>
            </a:r>
          </a:p>
        </p:txBody>
      </p:sp>
      <p:sp>
        <p:nvSpPr>
          <p:cNvPr id="18" name="TextBox 18">
            <a:extLst>
              <a:ext uri="{FF2B5EF4-FFF2-40B4-BE49-F238E27FC236}">
                <a16:creationId xmlns:a16="http://schemas.microsoft.com/office/drawing/2014/main" id="{B6C37710-6B6E-934E-2704-2078FE795801}"/>
              </a:ext>
            </a:extLst>
          </p:cNvPr>
          <p:cNvSpPr txBox="1"/>
          <p:nvPr/>
        </p:nvSpPr>
        <p:spPr>
          <a:xfrm>
            <a:off x="889006" y="1697088"/>
            <a:ext cx="36881" cy="325507"/>
          </a:xfrm>
          <a:prstGeom prst="rect">
            <a:avLst/>
          </a:prstGeom>
        </p:spPr>
        <p:txBody>
          <a:bodyPr lIns="0" tIns="0" rIns="0" bIns="0" rtlCol="0" anchor="t">
            <a:spAutoFit/>
          </a:bodyPr>
          <a:lstStyle/>
          <a:p>
            <a:pPr algn="l">
              <a:lnSpc>
                <a:spcPts val="2953"/>
              </a:lnSpc>
            </a:pPr>
            <a:r>
              <a:rPr lang="en-US" sz="1181" spc="-11">
                <a:solidFill>
                  <a:srgbClr val="C9C2C0"/>
                </a:solidFill>
                <a:latin typeface="IBM Plex Sans"/>
                <a:ea typeface="IBM Plex Sans"/>
                <a:cs typeface="IBM Plex Sans"/>
                <a:sym typeface="IBM Plex Sans"/>
              </a:rPr>
              <a:t> </a:t>
            </a:r>
          </a:p>
        </p:txBody>
      </p:sp>
      <p:pic>
        <p:nvPicPr>
          <p:cNvPr id="32" name="Picture 31" descr="A screenshot of a computer screen&#10;&#10;AI-generated content may be incorrect.">
            <a:extLst>
              <a:ext uri="{FF2B5EF4-FFF2-40B4-BE49-F238E27FC236}">
                <a16:creationId xmlns:a16="http://schemas.microsoft.com/office/drawing/2014/main" id="{16FDDC87-CD18-16AE-668D-EE42736C6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0" y="631523"/>
            <a:ext cx="4171323" cy="5559727"/>
          </a:xfrm>
          <a:prstGeom prst="rect">
            <a:avLst/>
          </a:prstGeom>
        </p:spPr>
      </p:pic>
    </p:spTree>
    <p:extLst>
      <p:ext uri="{BB962C8B-B14F-4D97-AF65-F5344CB8AC3E}">
        <p14:creationId xmlns:p14="http://schemas.microsoft.com/office/powerpoint/2010/main" val="3109593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73" y="0"/>
            <a:ext cx="11657028" cy="6438900"/>
          </a:xfrm>
          <a:custGeom>
            <a:avLst/>
            <a:gdLst/>
            <a:ahLst/>
            <a:cxnLst/>
            <a:rect l="l" t="t" r="r" b="b"/>
            <a:pathLst>
              <a:path w="11430000" h="6439205">
                <a:moveTo>
                  <a:pt x="0" y="0"/>
                </a:moveTo>
                <a:lnTo>
                  <a:pt x="11430000" y="0"/>
                </a:lnTo>
                <a:lnTo>
                  <a:pt x="11430000" y="6439205"/>
                </a:lnTo>
                <a:lnTo>
                  <a:pt x="0" y="6439205"/>
                </a:lnTo>
                <a:lnTo>
                  <a:pt x="0" y="0"/>
                </a:lnTo>
                <a:close/>
              </a:path>
            </a:pathLst>
          </a:custGeom>
          <a:blipFill>
            <a:blip r:embed="rId2"/>
            <a:stretch>
              <a:fillRect l="-1000" t="-40528" r="-1000" b="-40528"/>
            </a:stretch>
          </a:blipFill>
        </p:spPr>
        <p:txBody>
          <a:bodyPr/>
          <a:lstStyle/>
          <a:p>
            <a:endParaRPr lang="en-GB" dirty="0"/>
          </a:p>
          <a:p>
            <a:endParaRPr lang="en-GB" dirty="0"/>
          </a:p>
          <a:p>
            <a:endParaRPr lang="en-GB" dirty="0"/>
          </a:p>
          <a:p>
            <a:endParaRPr lang="en-GB" dirty="0"/>
          </a:p>
          <a:p>
            <a:r>
              <a:rPr lang="en-GB" dirty="0"/>
              <a:t>                                   </a:t>
            </a:r>
            <a:r>
              <a:rPr lang="en-GB" sz="4000" b="1" dirty="0">
                <a:solidFill>
                  <a:schemeClr val="accent3">
                    <a:lumMod val="60000"/>
                    <a:lumOff val="40000"/>
                  </a:schemeClr>
                </a:solidFill>
              </a:rPr>
              <a:t>Conclusion</a:t>
            </a:r>
          </a:p>
          <a:p>
            <a:endParaRPr lang="en-GB" dirty="0"/>
          </a:p>
        </p:txBody>
      </p:sp>
      <p:sp>
        <p:nvSpPr>
          <p:cNvPr id="3" name="TextBox 3"/>
          <p:cNvSpPr txBox="1"/>
          <p:nvPr/>
        </p:nvSpPr>
        <p:spPr>
          <a:xfrm>
            <a:off x="-5498654" y="391898"/>
            <a:ext cx="14160655" cy="490455"/>
          </a:xfrm>
          <a:prstGeom prst="rect">
            <a:avLst/>
          </a:prstGeom>
        </p:spPr>
        <p:txBody>
          <a:bodyPr wrap="square" lIns="0" tIns="0" rIns="0" bIns="0" rtlCol="0" anchor="t">
            <a:spAutoFit/>
          </a:bodyPr>
          <a:lstStyle/>
          <a:p>
            <a:pPr algn="ctr">
              <a:lnSpc>
                <a:spcPts val="4133"/>
              </a:lnSpc>
            </a:pPr>
            <a:endParaRPr lang="en-US" sz="2952">
              <a:solidFill>
                <a:srgbClr val="C49F8C"/>
              </a:solidFill>
              <a:latin typeface="IBM Plex Sans"/>
              <a:ea typeface="IBM Plex Sans"/>
              <a:cs typeface="IBM Plex Sans"/>
              <a:sym typeface="IBM Plex Sans"/>
            </a:endParaRPr>
          </a:p>
        </p:txBody>
      </p:sp>
      <p:sp>
        <p:nvSpPr>
          <p:cNvPr id="4" name="TextBox 4"/>
          <p:cNvSpPr txBox="1"/>
          <p:nvPr/>
        </p:nvSpPr>
        <p:spPr>
          <a:xfrm>
            <a:off x="643920" y="1289347"/>
            <a:ext cx="7686120" cy="1406525"/>
          </a:xfrm>
          <a:prstGeom prst="rect">
            <a:avLst/>
          </a:prstGeom>
        </p:spPr>
        <p:txBody>
          <a:bodyPr lIns="0" tIns="0" rIns="0" bIns="0" rtlCol="0" anchor="t">
            <a:spAutoFit/>
          </a:bodyPr>
          <a:lstStyle/>
          <a:p>
            <a:pPr algn="l">
              <a:lnSpc>
                <a:spcPts val="2800"/>
              </a:lnSpc>
            </a:pPr>
            <a:endParaRPr lang="en-US" sz="2000">
              <a:solidFill>
                <a:srgbClr val="C9C2C0"/>
              </a:solidFill>
              <a:latin typeface="Canva Sans"/>
              <a:ea typeface="Canva Sans"/>
              <a:cs typeface="Canva Sans"/>
              <a:sym typeface="Canva Sans"/>
            </a:endParaRPr>
          </a:p>
        </p:txBody>
      </p:sp>
      <p:sp>
        <p:nvSpPr>
          <p:cNvPr id="6" name="TextBox 6"/>
          <p:cNvSpPr txBox="1"/>
          <p:nvPr/>
        </p:nvSpPr>
        <p:spPr>
          <a:xfrm>
            <a:off x="703888" y="4854872"/>
            <a:ext cx="6449139" cy="701675"/>
          </a:xfrm>
          <a:prstGeom prst="rect">
            <a:avLst/>
          </a:prstGeom>
        </p:spPr>
        <p:txBody>
          <a:bodyPr lIns="0" tIns="0" rIns="0" bIns="0" rtlCol="0" anchor="t">
            <a:spAutoFit/>
          </a:bodyPr>
          <a:lstStyle/>
          <a:p>
            <a:pPr algn="l">
              <a:lnSpc>
                <a:spcPts val="2800"/>
              </a:lnSpc>
            </a:pPr>
            <a:endParaRPr lang="en-US" sz="2000">
              <a:solidFill>
                <a:srgbClr val="C9C2C0"/>
              </a:solidFill>
              <a:latin typeface="Canva Sans"/>
              <a:ea typeface="Canva Sans"/>
              <a:cs typeface="Canva Sans"/>
              <a:sym typeface="Canva Sans"/>
            </a:endParaRPr>
          </a:p>
          <a:p>
            <a:pPr algn="l">
              <a:lnSpc>
                <a:spcPts val="2800"/>
              </a:lnSpc>
            </a:pPr>
            <a:r>
              <a:rPr lang="en-GB" sz="2000">
                <a:solidFill>
                  <a:srgbClr val="C9C2C0"/>
                </a:solidFill>
                <a:latin typeface="Canva Sans"/>
                <a:ea typeface="Canva Sans"/>
                <a:cs typeface="Canva Sans"/>
                <a:sym typeface="Canva Sans"/>
              </a:rPr>
              <a:t>.</a:t>
            </a:r>
            <a:endParaRPr lang="en-US" sz="2000">
              <a:solidFill>
                <a:srgbClr val="C9C2C0"/>
              </a:solidFill>
              <a:latin typeface="Canva Sans"/>
              <a:ea typeface="Canva Sans"/>
              <a:cs typeface="Canva Sans"/>
              <a:sym typeface="Canva Sans"/>
            </a:endParaRPr>
          </a:p>
        </p:txBody>
      </p:sp>
      <p:sp>
        <p:nvSpPr>
          <p:cNvPr id="5" name="TextBox 4">
            <a:extLst>
              <a:ext uri="{FF2B5EF4-FFF2-40B4-BE49-F238E27FC236}">
                <a16:creationId xmlns:a16="http://schemas.microsoft.com/office/drawing/2014/main" id="{760366D4-8B82-A0A6-B884-BF23CC34EDAC}"/>
              </a:ext>
            </a:extLst>
          </p:cNvPr>
          <p:cNvSpPr txBox="1"/>
          <p:nvPr/>
        </p:nvSpPr>
        <p:spPr>
          <a:xfrm>
            <a:off x="1143000" y="2533650"/>
            <a:ext cx="7772400" cy="2831544"/>
          </a:xfrm>
          <a:prstGeom prst="rect">
            <a:avLst/>
          </a:prstGeom>
          <a:noFill/>
        </p:spPr>
        <p:txBody>
          <a:bodyPr wrap="square" rtlCol="0">
            <a:spAutoFit/>
          </a:bodyPr>
          <a:lstStyle/>
          <a:p>
            <a:pPr lvl="1" algn="just"/>
            <a:r>
              <a:rPr lang="en-GB" sz="1600" spc="-11" dirty="0">
                <a:solidFill>
                  <a:srgbClr val="C9C2C0"/>
                </a:solidFill>
                <a:latin typeface="IBM Plex Sans"/>
              </a:rPr>
              <a:t>The Automatic Skin Disease Diagnosis Website is a smart and accessible tool that leverages machine learning and image processing to assist in early detection of skin diseases. By allowing users to upload images and receive instant analysis, the system reduces the need for immediate clinical visits, making basic healthcare more accessible especially in remote areas . This project not only demonstrates the potential of AI in medical diagnostics but also highlights how technology can be used to promote health awareness and preventive care . With further development, it can be integrated into telemedicine systems and contribute to faster, more reliable dermatological support.</a:t>
            </a:r>
            <a:endParaRPr lang="en-US" sz="1600" spc="-11" dirty="0">
              <a:solidFill>
                <a:srgbClr val="C9C2C0"/>
              </a:solidFill>
              <a:latin typeface="IBM Plex Sans"/>
            </a:endParaRP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7DEDC-B9BA-4E5E-9059-7D719DE042A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B5F46D-C292-A49B-F4A4-1DFB2834C8F2}"/>
              </a:ext>
            </a:extLst>
          </p:cNvPr>
          <p:cNvSpPr/>
          <p:nvPr/>
        </p:nvSpPr>
        <p:spPr>
          <a:xfrm>
            <a:off x="0" y="0"/>
            <a:ext cx="11430000" cy="6439205"/>
          </a:xfrm>
          <a:custGeom>
            <a:avLst/>
            <a:gdLst/>
            <a:ahLst/>
            <a:cxnLst/>
            <a:rect l="l" t="t" r="r" b="b"/>
            <a:pathLst>
              <a:path w="11430000" h="6439205">
                <a:moveTo>
                  <a:pt x="0" y="0"/>
                </a:moveTo>
                <a:lnTo>
                  <a:pt x="11430000" y="0"/>
                </a:lnTo>
                <a:lnTo>
                  <a:pt x="11430000" y="6439205"/>
                </a:lnTo>
                <a:lnTo>
                  <a:pt x="0" y="6439205"/>
                </a:lnTo>
                <a:lnTo>
                  <a:pt x="0" y="0"/>
                </a:lnTo>
                <a:close/>
              </a:path>
            </a:pathLst>
          </a:custGeom>
          <a:blipFill>
            <a:blip r:embed="rId2"/>
            <a:stretch>
              <a:fillRect l="-1000" t="-40528" r="-1000" b="-40528"/>
            </a:stretch>
          </a:blipFill>
        </p:spPr>
        <p:txBody>
          <a:bodyPr/>
          <a:lstStyle/>
          <a:p>
            <a:endParaRPr lang="en-US"/>
          </a:p>
        </p:txBody>
      </p:sp>
      <p:pic>
        <p:nvPicPr>
          <p:cNvPr id="3" name="Picture 3">
            <a:extLst>
              <a:ext uri="{FF2B5EF4-FFF2-40B4-BE49-F238E27FC236}">
                <a16:creationId xmlns:a16="http://schemas.microsoft.com/office/drawing/2014/main" id="{5F86CF66-74B2-CB44-98F7-957571BEA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79419"/>
            <a:ext cx="12851024" cy="6718319"/>
          </a:xfrm>
          <a:prstGeom prst="rect">
            <a:avLst/>
          </a:prstGeom>
        </p:spPr>
      </p:pic>
      <p:pic>
        <p:nvPicPr>
          <p:cNvPr id="6" name="Picture 6">
            <a:extLst>
              <a:ext uri="{FF2B5EF4-FFF2-40B4-BE49-F238E27FC236}">
                <a16:creationId xmlns:a16="http://schemas.microsoft.com/office/drawing/2014/main" id="{9FC28CDE-8B92-2946-8A11-6D6DC42658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09" y="-36550"/>
            <a:ext cx="12851024" cy="6232579"/>
          </a:xfrm>
          <a:prstGeom prst="rect">
            <a:avLst/>
          </a:prstGeom>
        </p:spPr>
      </p:pic>
    </p:spTree>
    <p:extLst>
      <p:ext uri="{BB962C8B-B14F-4D97-AF65-F5344CB8AC3E}">
        <p14:creationId xmlns:p14="http://schemas.microsoft.com/office/powerpoint/2010/main" val="3550750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1040</Words>
  <Application>Microsoft Macintosh PowerPoint</Application>
  <PresentationFormat>Custom</PresentationFormat>
  <Paragraphs>154</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Abadi Extra Light</vt:lpstr>
      <vt:lpstr>Arial</vt:lpstr>
      <vt:lpstr>Times New Roman</vt:lpstr>
      <vt:lpstr>Canva Sans Bold</vt:lpstr>
      <vt:lpstr>Calibri</vt:lpstr>
      <vt:lpstr>Canva Sans</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Automatic-Skin-Disease-Diagnosis-Website.pdf</dc:title>
  <cp:lastModifiedBy>jonah jayasingh</cp:lastModifiedBy>
  <cp:revision>11</cp:revision>
  <dcterms:created xsi:type="dcterms:W3CDTF">2006-08-16T00:00:00Z</dcterms:created>
  <dcterms:modified xsi:type="dcterms:W3CDTF">2025-09-19T08:53:22Z</dcterms:modified>
  <dc:identifier>DAGtQGEyZPk</dc:identifier>
</cp:coreProperties>
</file>